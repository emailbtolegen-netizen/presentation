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Основные показатели отдела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Жилищный фонд: многоквартирные дома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Техническое состояние и управление МЖД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Термомодернизация МЖД 2020–2024 гг.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Капремонт объектов водоснабжения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Канализация методом санации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Канализационные сети в жилых массивах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Правобережные КОС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Пруд-испаритель «Квадрат»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Кабельные линии электроснабжения — 162 км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Уличное освещение — 7 этап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Аварийные опоры ЛЭП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Тариф на электроэнергию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Теплоснабжение, ГВС и котельные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ТБО, санитарная очистка и дезинсекция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Отлов безнадзорных собак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Благоустройство — 100 дворов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Благоустройство — 150 дворов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Фотоотчёт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Потребность в финансировании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Проблемные вопросы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67508"/>
            <a:ext cx="643128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126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 ЖКХ И ЖИЛИЩНОЙ ИНСПЕКЦИИ Г. АТЫРАУ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57068"/>
            <a:ext cx="6431280" cy="2109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0"/>
              </a:lnSpc>
              <a:buNone/>
            </a:pPr>
            <a:r>
              <a:rPr lang="en-US" sz="3720" b="1" spc="-56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Жилищно-коммунальное хозяйство </a:t>
            </a:r>
            <a:pPr algn="l" indent="0" marL="0">
              <a:lnSpc>
                <a:spcPts val="4020"/>
              </a:lnSpc>
              <a:buNone/>
            </a:pPr>
            <a:r>
              <a:rPr lang="en-US" sz="3720" b="1" spc="-56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города Атырау</a:t>
            </a:r>
            <a:endParaRPr lang="en-US" sz="372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808339"/>
            <a:ext cx="5334000" cy="471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0"/>
              </a:lnSpc>
              <a:buNone/>
            </a:pPr>
            <a:r>
              <a:rPr lang="en-US" sz="132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Текущее состояние, основные проекты и потребность в бюджетном финансировании</a:t>
            </a:r>
            <a:endParaRPr lang="en-US" sz="132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073140"/>
            <a:ext cx="66127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Место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248400"/>
            <a:ext cx="7069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102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г. Атырау</a:t>
            </a:r>
            <a:endParaRPr lang="en-US" sz="1020" dirty="0"/>
          </a:p>
        </p:txBody>
      </p:sp>
      <p:sp>
        <p:nvSpPr>
          <p:cNvPr id="7" name="Text 5"/>
          <p:cNvSpPr txBox="1"/>
          <p:nvPr/>
        </p:nvSpPr>
        <p:spPr>
          <a:xfrm>
            <a:off x="1606153" y="6073140"/>
            <a:ext cx="95666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Дата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606153" y="6248400"/>
            <a:ext cx="100238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102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Октябрь 2026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4333637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spc="109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 ЖКХ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563880"/>
            <a:ext cx="4653677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0"/>
              </a:lnSpc>
              <a:buNone/>
            </a:pPr>
            <a:r>
              <a:rPr lang="en-US" sz="2280" b="1" spc="-23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Основные показатели отдела</a:t>
            </a:r>
            <a:endParaRPr lang="en-US" sz="2280" dirty="0"/>
          </a:p>
        </p:txBody>
      </p:sp>
      <p:sp>
        <p:nvSpPr>
          <p:cNvPr id="4" name="Text 2"/>
          <p:cNvSpPr txBox="1"/>
          <p:nvPr/>
        </p:nvSpPr>
        <p:spPr>
          <a:xfrm>
            <a:off x="800100" y="2855238"/>
            <a:ext cx="324707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Годовой бюджет на 2026 год</a:t>
            </a:r>
            <a:endParaRPr lang="en-US" sz="960" dirty="0"/>
          </a:p>
        </p:txBody>
      </p:sp>
      <p:sp>
        <p:nvSpPr>
          <p:cNvPr id="5" name="Text 3"/>
          <p:cNvSpPr txBox="1"/>
          <p:nvPr/>
        </p:nvSpPr>
        <p:spPr>
          <a:xfrm>
            <a:off x="800100" y="3073122"/>
            <a:ext cx="3247073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b="1" spc="-66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56</a:t>
            </a:r>
            <a:pPr algn="l" indent="0" marL="0">
              <a:lnSpc>
                <a:spcPts val="693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млрд тг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800100" y="4204692"/>
            <a:ext cx="2895600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Финансирование проектов в сфере жилищно-коммунального хозяйства города</a:t>
            </a:r>
            <a:endParaRPr lang="en-US" sz="960" dirty="0"/>
          </a:p>
        </p:txBody>
      </p:sp>
      <p:sp>
        <p:nvSpPr>
          <p:cNvPr id="7" name="Text 5"/>
          <p:cNvSpPr txBox="1"/>
          <p:nvPr/>
        </p:nvSpPr>
        <p:spPr>
          <a:xfrm>
            <a:off x="4763453" y="1948458"/>
            <a:ext cx="30170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30"/>
              </a:lnSpc>
              <a:buNone/>
            </a:pPr>
            <a:r>
              <a:rPr lang="en-US" sz="3840" b="1" spc="-38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107</a:t>
            </a:r>
            <a:endParaRPr lang="en-US" sz="3840" dirty="0"/>
          </a:p>
        </p:txBody>
      </p:sp>
      <p:sp>
        <p:nvSpPr>
          <p:cNvPr id="8" name="Text 6"/>
          <p:cNvSpPr txBox="1"/>
          <p:nvPr/>
        </p:nvSpPr>
        <p:spPr>
          <a:xfrm>
            <a:off x="4763453" y="2559487"/>
            <a:ext cx="3017044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проектов в работе отдела</a:t>
            </a:r>
            <a:endParaRPr lang="en-US" sz="1020" dirty="0"/>
          </a:p>
        </p:txBody>
      </p:sp>
      <p:sp>
        <p:nvSpPr>
          <p:cNvPr id="9" name="Text 7"/>
          <p:cNvSpPr txBox="1"/>
          <p:nvPr/>
        </p:nvSpPr>
        <p:spPr>
          <a:xfrm>
            <a:off x="8435816" y="1948458"/>
            <a:ext cx="30170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30"/>
              </a:lnSpc>
              <a:buNone/>
            </a:pPr>
            <a:r>
              <a:rPr lang="en-US" sz="3840" b="1" spc="-38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3840" dirty="0"/>
          </a:p>
        </p:txBody>
      </p:sp>
      <p:sp>
        <p:nvSpPr>
          <p:cNvPr id="10" name="Text 8"/>
          <p:cNvSpPr txBox="1"/>
          <p:nvPr/>
        </p:nvSpPr>
        <p:spPr>
          <a:xfrm>
            <a:off x="8435816" y="2559487"/>
            <a:ext cx="3017044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подрядных организаций</a:t>
            </a:r>
            <a:endParaRPr lang="en-US" sz="1020" dirty="0"/>
          </a:p>
        </p:txBody>
      </p:sp>
      <p:sp>
        <p:nvSpPr>
          <p:cNvPr id="11" name="Text 9"/>
          <p:cNvSpPr txBox="1"/>
          <p:nvPr/>
        </p:nvSpPr>
        <p:spPr>
          <a:xfrm>
            <a:off x="4763453" y="3991689"/>
            <a:ext cx="66894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50" b="1" spc="75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КАДРОВЫЙ СОСТАВ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4763453" y="4185047"/>
            <a:ext cx="2107883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763453" y="4588907"/>
            <a:ext cx="210788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штатных единиц госслужащих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054215" y="4185047"/>
            <a:ext cx="2107883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B47A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054215" y="4588907"/>
            <a:ext cx="210788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вакантных должностей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344978" y="4185047"/>
            <a:ext cx="2107883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344978" y="4588907"/>
            <a:ext cx="210788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внештатных сотрудников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956941" y="4937522"/>
            <a:ext cx="3062526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 — по факту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699671" y="4937522"/>
            <a:ext cx="753189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908233" y="5253752"/>
            <a:ext cx="141220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Занятые штатные единицы</a:t>
            </a:r>
            <a:endParaRPr lang="en-US" sz="840" dirty="0"/>
          </a:p>
        </p:txBody>
      </p:sp>
      <p:sp>
        <p:nvSpPr>
          <p:cNvPr id="21" name="Text 19"/>
          <p:cNvSpPr txBox="1"/>
          <p:nvPr/>
        </p:nvSpPr>
        <p:spPr>
          <a:xfrm>
            <a:off x="6556653" y="5253752"/>
            <a:ext cx="1179314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Вакантные должности</a:t>
            </a:r>
            <a:endParaRPr lang="en-US" sz="84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6507480"/>
            <a:ext cx="10219849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 ЖКХ и жилищной инспекции г. Атырау</a:t>
            </a:r>
            <a:endParaRPr lang="en-US" sz="780" dirty="0"/>
          </a:p>
        </p:txBody>
      </p:sp>
      <p:sp>
        <p:nvSpPr>
          <p:cNvPr id="23" name="Text 21"/>
          <p:cNvSpPr txBox="1"/>
          <p:nvPr/>
        </p:nvSpPr>
        <p:spPr>
          <a:xfrm>
            <a:off x="11378089" y="6507480"/>
            <a:ext cx="37195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22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348746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spc="109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ЖИЛИЩНЫЙ ФОНД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563880"/>
            <a:ext cx="380750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0"/>
              </a:lnSpc>
              <a:buNone/>
            </a:pPr>
            <a:r>
              <a:rPr lang="en-US" sz="2280" b="1" spc="-23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Многоквартирные дома</a:t>
            </a:r>
            <a:endParaRPr lang="en-US" sz="2280" dirty="0"/>
          </a:p>
        </p:txBody>
      </p:sp>
      <p:sp>
        <p:nvSpPr>
          <p:cNvPr id="4" name="Text 2"/>
          <p:cNvSpPr txBox="1"/>
          <p:nvPr/>
        </p:nvSpPr>
        <p:spPr>
          <a:xfrm>
            <a:off x="678180" y="1332071"/>
            <a:ext cx="23088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1 239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78180" y="1735931"/>
            <a:ext cx="23088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многоквартирных домов в реестре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1332071"/>
            <a:ext cx="23088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63 340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1735931"/>
            <a:ext cx="23088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квартир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362700" y="1332071"/>
            <a:ext cx="23088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4,11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млн м²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362700" y="1735931"/>
            <a:ext cx="23088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общая площадь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04960" y="1254919"/>
            <a:ext cx="23088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C838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379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· 30,6%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9204960" y="1658779"/>
            <a:ext cx="230886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домов старше 50 лет (постройка до 1976 г.)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78180" y="2470309"/>
            <a:ext cx="64277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50" b="1" spc="75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ДОМА ПО ПЕРИОДУ ПОСТРОЙКИ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936665" y="3775591"/>
            <a:ext cx="238839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168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63535" y="5617845"/>
            <a:ext cx="73937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 1960</a:t>
            </a:r>
            <a:endParaRPr lang="en-US" sz="810" dirty="0"/>
          </a:p>
        </p:txBody>
      </p:sp>
      <p:sp>
        <p:nvSpPr>
          <p:cNvPr id="15" name="Text 13"/>
          <p:cNvSpPr txBox="1"/>
          <p:nvPr/>
        </p:nvSpPr>
        <p:spPr>
          <a:xfrm>
            <a:off x="1757482" y="4173379"/>
            <a:ext cx="230862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126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500188" y="5617845"/>
            <a:ext cx="6997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1960-е</a:t>
            </a:r>
            <a:endParaRPr lang="en-US" sz="810" dirty="0"/>
          </a:p>
        </p:txBody>
      </p:sp>
      <p:sp>
        <p:nvSpPr>
          <p:cNvPr id="17" name="Text 15"/>
          <p:cNvSpPr txBox="1"/>
          <p:nvPr/>
        </p:nvSpPr>
        <p:spPr>
          <a:xfrm>
            <a:off x="2574012" y="3889296"/>
            <a:ext cx="231458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323743" y="5617845"/>
            <a:ext cx="6861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1970-е</a:t>
            </a:r>
            <a:endParaRPr lang="en-US" sz="810" dirty="0"/>
          </a:p>
        </p:txBody>
      </p:sp>
      <p:sp>
        <p:nvSpPr>
          <p:cNvPr id="19" name="Text 17"/>
          <p:cNvSpPr txBox="1"/>
          <p:nvPr/>
        </p:nvSpPr>
        <p:spPr>
          <a:xfrm>
            <a:off x="3379708" y="3131701"/>
            <a:ext cx="253722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236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135868" y="5617845"/>
            <a:ext cx="69556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1980-е</a:t>
            </a:r>
            <a:endParaRPr lang="en-US" sz="810" dirty="0"/>
          </a:p>
        </p:txBody>
      </p:sp>
      <p:sp>
        <p:nvSpPr>
          <p:cNvPr id="21" name="Text 19"/>
          <p:cNvSpPr txBox="1"/>
          <p:nvPr/>
        </p:nvSpPr>
        <p:spPr>
          <a:xfrm>
            <a:off x="4228981" y="4580453"/>
            <a:ext cx="188833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950613" y="5617845"/>
            <a:ext cx="6997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1990-е</a:t>
            </a:r>
            <a:endParaRPr lang="en-US" sz="810" dirty="0"/>
          </a:p>
        </p:txBody>
      </p:sp>
      <p:sp>
        <p:nvSpPr>
          <p:cNvPr id="23" name="Text 21"/>
          <p:cNvSpPr txBox="1"/>
          <p:nvPr/>
        </p:nvSpPr>
        <p:spPr>
          <a:xfrm>
            <a:off x="5025747" y="4163854"/>
            <a:ext cx="228838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127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759285" y="5617845"/>
            <a:ext cx="71604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2000-е</a:t>
            </a:r>
            <a:endParaRPr lang="en-US" sz="810" dirty="0"/>
          </a:p>
        </p:txBody>
      </p:sp>
      <p:sp>
        <p:nvSpPr>
          <p:cNvPr id="25" name="Text 23"/>
          <p:cNvSpPr txBox="1"/>
          <p:nvPr/>
        </p:nvSpPr>
        <p:spPr>
          <a:xfrm>
            <a:off x="5825133" y="2904530"/>
            <a:ext cx="263604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260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587365" y="5617845"/>
            <a:ext cx="6934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2010-е</a:t>
            </a:r>
            <a:endParaRPr lang="en-US" sz="810" dirty="0"/>
          </a:p>
        </p:txBody>
      </p:sp>
      <p:sp>
        <p:nvSpPr>
          <p:cNvPr id="27" name="Text 25"/>
          <p:cNvSpPr txBox="1"/>
          <p:nvPr/>
        </p:nvSpPr>
        <p:spPr>
          <a:xfrm>
            <a:off x="6679406" y="4589978"/>
            <a:ext cx="188595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299478" y="5617845"/>
            <a:ext cx="9027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2020–2024</a:t>
            </a:r>
            <a:endParaRPr lang="en-US" sz="81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974080"/>
            <a:ext cx="1111091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построены до 1990 г.</a:t>
            </a:r>
            <a:endParaRPr lang="en-US" sz="840" dirty="0"/>
          </a:p>
        </p:txBody>
      </p:sp>
      <p:sp>
        <p:nvSpPr>
          <p:cNvPr id="30" name="Text 28"/>
          <p:cNvSpPr txBox="1"/>
          <p:nvPr/>
        </p:nvSpPr>
        <p:spPr>
          <a:xfrm>
            <a:off x="2170271" y="5974080"/>
            <a:ext cx="709136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после 1990 г.</a:t>
            </a:r>
            <a:endParaRPr lang="en-US" sz="840" dirty="0"/>
          </a:p>
        </p:txBody>
      </p:sp>
      <p:sp>
        <p:nvSpPr>
          <p:cNvPr id="31" name="Text 29"/>
          <p:cNvSpPr txBox="1"/>
          <p:nvPr/>
        </p:nvSpPr>
        <p:spPr>
          <a:xfrm>
            <a:off x="7639288" y="2731294"/>
            <a:ext cx="3874532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B47A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686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домов · 55%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7639288" y="3135154"/>
            <a:ext cx="387453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построены до 1990 года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639288" y="4306729"/>
            <a:ext cx="3874532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469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домов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7639288" y="4710589"/>
            <a:ext cx="387453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новое строительство 2000–2024 гг., ≈30 тыс. квартир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631668" y="5590699"/>
            <a:ext cx="39126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50" b="1" spc="75" kern="0" dirty="0">
                <a:solidFill>
                  <a:srgbClr val="B47A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ВЫВОД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7631668" y="5774531"/>
            <a:ext cx="3912632" cy="38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08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Почти треть фонда старше 50 лет — основной объём будущих затрат на капремонт и замену инженерных сетей</a:t>
            </a:r>
            <a:endParaRPr lang="en-US" sz="108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6507480"/>
            <a:ext cx="1022032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 ЖКХ и жилищной инспекции г. Атырау</a:t>
            </a:r>
            <a:endParaRPr lang="en-US" sz="780" dirty="0"/>
          </a:p>
        </p:txBody>
      </p:sp>
      <p:sp>
        <p:nvSpPr>
          <p:cNvPr id="38" name="Text 36"/>
          <p:cNvSpPr txBox="1"/>
          <p:nvPr/>
        </p:nvSpPr>
        <p:spPr>
          <a:xfrm>
            <a:off x="11378565" y="6507480"/>
            <a:ext cx="37147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22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6539627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spc="109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ЖИЛИЩНЫЙ ФОНД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563880"/>
            <a:ext cx="6859667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0"/>
              </a:lnSpc>
              <a:buNone/>
            </a:pPr>
            <a:r>
              <a:rPr lang="en-US" sz="2280" b="1" spc="-23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Техническое состояние и управление МЖД</a:t>
            </a:r>
            <a:endParaRPr lang="en-US" sz="2280" dirty="0"/>
          </a:p>
        </p:txBody>
      </p:sp>
      <p:sp>
        <p:nvSpPr>
          <p:cNvPr id="4" name="Text 2"/>
          <p:cNvSpPr txBox="1"/>
          <p:nvPr/>
        </p:nvSpPr>
        <p:spPr>
          <a:xfrm>
            <a:off x="678180" y="1277779"/>
            <a:ext cx="40446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50" b="1" spc="75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МАТЕРИАЛ СТЕН, ДОМОВ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991314" y="3077528"/>
            <a:ext cx="973931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92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1 239</a:t>
            </a:r>
            <a:endParaRPr lang="en-US" sz="1920" dirty="0"/>
          </a:p>
        </p:txBody>
      </p:sp>
      <p:sp>
        <p:nvSpPr>
          <p:cNvPr id="6" name="Text 4"/>
          <p:cNvSpPr txBox="1"/>
          <p:nvPr/>
        </p:nvSpPr>
        <p:spPr>
          <a:xfrm>
            <a:off x="991314" y="3382328"/>
            <a:ext cx="973931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домов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2682240" y="2852738"/>
            <a:ext cx="204061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Монолит</a:t>
            </a:r>
            <a:endParaRPr lang="en-US" sz="960" dirty="0"/>
          </a:p>
        </p:txBody>
      </p:sp>
      <p:sp>
        <p:nvSpPr>
          <p:cNvPr id="8" name="Text 6"/>
          <p:cNvSpPr txBox="1"/>
          <p:nvPr/>
        </p:nvSpPr>
        <p:spPr>
          <a:xfrm>
            <a:off x="4482227" y="2864168"/>
            <a:ext cx="28634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454</a:t>
            </a:r>
            <a:endParaRPr lang="en-US" sz="960" dirty="0"/>
          </a:p>
        </p:txBody>
      </p:sp>
      <p:sp>
        <p:nvSpPr>
          <p:cNvPr id="9" name="Text 7"/>
          <p:cNvSpPr txBox="1"/>
          <p:nvPr/>
        </p:nvSpPr>
        <p:spPr>
          <a:xfrm>
            <a:off x="2682240" y="3104198"/>
            <a:ext cx="204061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Панель</a:t>
            </a:r>
            <a:endParaRPr lang="en-US" sz="960" dirty="0"/>
          </a:p>
        </p:txBody>
      </p:sp>
      <p:sp>
        <p:nvSpPr>
          <p:cNvPr id="10" name="Text 8"/>
          <p:cNvSpPr txBox="1"/>
          <p:nvPr/>
        </p:nvSpPr>
        <p:spPr>
          <a:xfrm>
            <a:off x="4489252" y="3115628"/>
            <a:ext cx="2793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294</a:t>
            </a:r>
            <a:endParaRPr lang="en-US" sz="960" dirty="0"/>
          </a:p>
        </p:txBody>
      </p:sp>
      <p:sp>
        <p:nvSpPr>
          <p:cNvPr id="11" name="Text 9"/>
          <p:cNvSpPr txBox="1"/>
          <p:nvPr/>
        </p:nvSpPr>
        <p:spPr>
          <a:xfrm>
            <a:off x="2682240" y="3355658"/>
            <a:ext cx="204061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Кирпич</a:t>
            </a:r>
            <a:endParaRPr lang="en-US" sz="960" dirty="0"/>
          </a:p>
        </p:txBody>
      </p:sp>
      <p:sp>
        <p:nvSpPr>
          <p:cNvPr id="12" name="Text 10"/>
          <p:cNvSpPr txBox="1"/>
          <p:nvPr/>
        </p:nvSpPr>
        <p:spPr>
          <a:xfrm>
            <a:off x="4498419" y="3367088"/>
            <a:ext cx="27015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282</a:t>
            </a:r>
            <a:endParaRPr lang="en-US" sz="960" dirty="0"/>
          </a:p>
        </p:txBody>
      </p:sp>
      <p:sp>
        <p:nvSpPr>
          <p:cNvPr id="13" name="Text 11"/>
          <p:cNvSpPr txBox="1"/>
          <p:nvPr/>
        </p:nvSpPr>
        <p:spPr>
          <a:xfrm>
            <a:off x="2682240" y="3607118"/>
            <a:ext cx="204061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Гипсоблок</a:t>
            </a:r>
            <a:endParaRPr lang="en-US" sz="960" dirty="0"/>
          </a:p>
        </p:txBody>
      </p:sp>
      <p:sp>
        <p:nvSpPr>
          <p:cNvPr id="14" name="Text 12"/>
          <p:cNvSpPr txBox="1"/>
          <p:nvPr/>
        </p:nvSpPr>
        <p:spPr>
          <a:xfrm>
            <a:off x="4490442" y="3618548"/>
            <a:ext cx="2781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209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5256252" y="1791772"/>
            <a:ext cx="1750457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0"/>
              </a:lnSpc>
              <a:buNone/>
            </a:pPr>
            <a:r>
              <a:rPr lang="en-US" sz="1920" b="1" spc="-19" kern="0" dirty="0">
                <a:solidFill>
                  <a:srgbClr val="C838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209</a:t>
            </a:r>
            <a:endParaRPr lang="en-US" sz="1920" dirty="0"/>
          </a:p>
        </p:txBody>
      </p:sp>
      <p:sp>
        <p:nvSpPr>
          <p:cNvPr id="16" name="Text 14"/>
          <p:cNvSpPr txBox="1"/>
          <p:nvPr/>
        </p:nvSpPr>
        <p:spPr>
          <a:xfrm>
            <a:off x="5256252" y="2123956"/>
            <a:ext cx="17742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гипсоблочных домов 1945–1980 гг., из них 208 — старше 50 лет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509629" y="1791772"/>
            <a:ext cx="175057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0"/>
              </a:lnSpc>
              <a:buNone/>
            </a:pPr>
            <a:r>
              <a:rPr lang="en-US" sz="1920" b="1" spc="-19" kern="0" dirty="0">
                <a:solidFill>
                  <a:srgbClr val="B47A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345</a:t>
            </a:r>
            <a:pPr algn="l" indent="0" marL="0">
              <a:lnSpc>
                <a:spcPts val="2020"/>
              </a:lnSpc>
              <a:buNone/>
            </a:pPr>
            <a:r>
              <a:rPr lang="en-US" sz="96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· 27,8%</a:t>
            </a:r>
            <a:endParaRPr lang="en-US" sz="1920" dirty="0"/>
          </a:p>
        </p:txBody>
      </p:sp>
      <p:sp>
        <p:nvSpPr>
          <p:cNvPr id="18" name="Text 16"/>
          <p:cNvSpPr txBox="1"/>
          <p:nvPr/>
        </p:nvSpPr>
        <p:spPr>
          <a:xfrm>
            <a:off x="7509629" y="2123956"/>
            <a:ext cx="17505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домов без формы управления (9 147 квартир)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763125" y="1714619"/>
            <a:ext cx="1750457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0"/>
              </a:lnSpc>
              <a:buNone/>
            </a:pPr>
            <a:r>
              <a:rPr lang="en-US" sz="1920" b="1" spc="-19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13%</a:t>
            </a:r>
            <a:endParaRPr lang="en-US" sz="1920" dirty="0"/>
          </a:p>
        </p:txBody>
      </p:sp>
      <p:sp>
        <p:nvSpPr>
          <p:cNvPr id="20" name="Text 18"/>
          <p:cNvSpPr txBox="1"/>
          <p:nvPr/>
        </p:nvSpPr>
        <p:spPr>
          <a:xfrm>
            <a:off x="9763125" y="2046803"/>
            <a:ext cx="1751052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домов с отметкой о проведённом ремонте (162 из 1 239)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256252" y="4025384"/>
            <a:ext cx="1750457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0"/>
              </a:lnSpc>
              <a:buNone/>
            </a:pPr>
            <a:r>
              <a:rPr lang="en-US" sz="1920" b="1" spc="-19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589</a:t>
            </a:r>
            <a:endParaRPr lang="en-US" sz="1920" dirty="0"/>
          </a:p>
        </p:txBody>
      </p:sp>
      <p:sp>
        <p:nvSpPr>
          <p:cNvPr id="22" name="Text 20"/>
          <p:cNvSpPr txBox="1"/>
          <p:nvPr/>
        </p:nvSpPr>
        <p:spPr>
          <a:xfrm>
            <a:off x="5256252" y="4357568"/>
            <a:ext cx="175045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лифтов в 230 домах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509629" y="3948232"/>
            <a:ext cx="175057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0"/>
              </a:lnSpc>
              <a:buNone/>
            </a:pPr>
            <a:r>
              <a:rPr lang="en-US" sz="1920" b="1" spc="-19" kern="0" dirty="0">
                <a:solidFill>
                  <a:srgbClr val="1E8F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82,6%</a:t>
            </a:r>
            <a:endParaRPr lang="en-US" sz="1920" dirty="0"/>
          </a:p>
        </p:txBody>
      </p:sp>
      <p:sp>
        <p:nvSpPr>
          <p:cNvPr id="24" name="Text 22"/>
          <p:cNvSpPr txBox="1"/>
          <p:nvPr/>
        </p:nvSpPr>
        <p:spPr>
          <a:xfrm>
            <a:off x="7509629" y="4280416"/>
            <a:ext cx="17505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домов на теплоснабжении от ТЭЦ (1 024)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9763125" y="3948232"/>
            <a:ext cx="1750457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0"/>
              </a:lnSpc>
              <a:buNone/>
            </a:pPr>
            <a:r>
              <a:rPr lang="en-US" sz="1920" b="1" spc="-19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209</a:t>
            </a:r>
            <a:endParaRPr lang="en-US" sz="1920" dirty="0"/>
          </a:p>
        </p:txBody>
      </p:sp>
      <p:sp>
        <p:nvSpPr>
          <p:cNvPr id="26" name="Text 24"/>
          <p:cNvSpPr txBox="1"/>
          <p:nvPr/>
        </p:nvSpPr>
        <p:spPr>
          <a:xfrm>
            <a:off x="9763125" y="4280416"/>
            <a:ext cx="175045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домов с индивидуальным отоплением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70560" y="5590699"/>
            <a:ext cx="108737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50" b="1" spc="75" kern="0" dirty="0">
                <a:solidFill>
                  <a:srgbClr val="B47A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ПРИОРИТЕТЫ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670560" y="5774531"/>
            <a:ext cx="10873740" cy="38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08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Обследование 208 гипсоблочных домов старше 50 лет — кандидаты на капремонт или расселение. Перевод 345 домов без управления в ОСИ / управляющие компании — условие для участия в программах ремонта.</a:t>
            </a:r>
            <a:endParaRPr lang="en-US" sz="108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6507480"/>
            <a:ext cx="1020889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 ЖКХ и жилищной инспекции г. Атырау</a:t>
            </a:r>
            <a:endParaRPr lang="en-US" sz="780" dirty="0"/>
          </a:p>
        </p:txBody>
      </p:sp>
      <p:sp>
        <p:nvSpPr>
          <p:cNvPr id="30" name="Text 28"/>
          <p:cNvSpPr txBox="1"/>
          <p:nvPr/>
        </p:nvSpPr>
        <p:spPr>
          <a:xfrm>
            <a:off x="11367135" y="6507480"/>
            <a:ext cx="38290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22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6006703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spc="109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ЖИЛИЩНЫЙ ФОНД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563880"/>
            <a:ext cx="6326743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0"/>
              </a:lnSpc>
              <a:buNone/>
            </a:pPr>
            <a:r>
              <a:rPr lang="en-US" sz="2280" b="1" spc="-23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Термомодернизация МЖД 2020–2024 гг.</a:t>
            </a:r>
            <a:endParaRPr lang="en-US" sz="2280" dirty="0"/>
          </a:p>
        </p:txBody>
      </p:sp>
      <p:sp>
        <p:nvSpPr>
          <p:cNvPr id="4" name="Text 2"/>
          <p:cNvSpPr txBox="1"/>
          <p:nvPr/>
        </p:nvSpPr>
        <p:spPr>
          <a:xfrm>
            <a:off x="678180" y="1254919"/>
            <a:ext cx="23088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78180" y="1658779"/>
            <a:ext cx="23088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объектов: дома, подъезды, лифты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1254919"/>
            <a:ext cx="23088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4,15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млрд тг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1658779"/>
            <a:ext cx="23088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выделено кооперативам собственников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362700" y="1254919"/>
            <a:ext cx="23088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1E8F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· 87%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362700" y="1658779"/>
            <a:ext cx="23088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объектов — работы завершены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04960" y="1254919"/>
            <a:ext cx="23088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C838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объектов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9204960" y="1658779"/>
            <a:ext cx="235255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2020–2022 гг. не завершены (712,4 млн тг)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78180" y="2316004"/>
            <a:ext cx="64277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50" b="1" spc="75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ОБЪЕКТЫ И ВЫДЕЛЕННЫЕ СРЕДСТВА ПО ГОДАМ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1402199" y="4982051"/>
            <a:ext cx="124539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69169" y="5617845"/>
            <a:ext cx="94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b="1" dirty="0">
                <a:solidFill>
                  <a:srgbClr val="0B254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2020</a:t>
            </a:r>
            <a:endParaRPr lang="en-US" sz="810" dirty="0"/>
          </a:p>
        </p:txBody>
      </p:sp>
      <p:sp>
        <p:nvSpPr>
          <p:cNvPr id="15" name="Text 13"/>
          <p:cNvSpPr txBox="1"/>
          <p:nvPr/>
        </p:nvSpPr>
        <p:spPr>
          <a:xfrm>
            <a:off x="969169" y="5746433"/>
            <a:ext cx="94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216,3 млн тг</a:t>
            </a:r>
            <a:endParaRPr lang="en-US" sz="810" dirty="0"/>
          </a:p>
        </p:txBody>
      </p:sp>
      <p:sp>
        <p:nvSpPr>
          <p:cNvPr id="16" name="Text 14"/>
          <p:cNvSpPr txBox="1"/>
          <p:nvPr/>
        </p:nvSpPr>
        <p:spPr>
          <a:xfrm>
            <a:off x="3017282" y="3732728"/>
            <a:ext cx="161449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605445" y="5617845"/>
            <a:ext cx="9394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b="1" dirty="0">
                <a:solidFill>
                  <a:srgbClr val="0B254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2021</a:t>
            </a:r>
            <a:endParaRPr lang="en-US" sz="810" dirty="0"/>
          </a:p>
        </p:txBody>
      </p:sp>
      <p:sp>
        <p:nvSpPr>
          <p:cNvPr id="18" name="Text 16"/>
          <p:cNvSpPr txBox="1"/>
          <p:nvPr/>
        </p:nvSpPr>
        <p:spPr>
          <a:xfrm>
            <a:off x="2605445" y="5746433"/>
            <a:ext cx="9394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926,1 млн тг</a:t>
            </a:r>
            <a:endParaRPr lang="en-US" sz="810" dirty="0"/>
          </a:p>
        </p:txBody>
      </p:sp>
      <p:sp>
        <p:nvSpPr>
          <p:cNvPr id="19" name="Text 17"/>
          <p:cNvSpPr txBox="1"/>
          <p:nvPr/>
        </p:nvSpPr>
        <p:spPr>
          <a:xfrm>
            <a:off x="4639628" y="2771775"/>
            <a:ext cx="184071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210288" y="5617845"/>
            <a:ext cx="9969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b="1" dirty="0">
                <a:solidFill>
                  <a:srgbClr val="0B254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2022</a:t>
            </a:r>
            <a:endParaRPr lang="en-US" sz="810" dirty="0"/>
          </a:p>
        </p:txBody>
      </p:sp>
      <p:sp>
        <p:nvSpPr>
          <p:cNvPr id="21" name="Text 19"/>
          <p:cNvSpPr txBox="1"/>
          <p:nvPr/>
        </p:nvSpPr>
        <p:spPr>
          <a:xfrm>
            <a:off x="4210288" y="5746433"/>
            <a:ext cx="9969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1 671,5 млн тг</a:t>
            </a:r>
            <a:endParaRPr lang="en-US" sz="810" dirty="0"/>
          </a:p>
        </p:txBody>
      </p:sp>
      <p:sp>
        <p:nvSpPr>
          <p:cNvPr id="22" name="Text 20"/>
          <p:cNvSpPr txBox="1"/>
          <p:nvPr/>
        </p:nvSpPr>
        <p:spPr>
          <a:xfrm>
            <a:off x="6273165" y="2771775"/>
            <a:ext cx="184071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840254" y="5617845"/>
            <a:ext cx="10042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b="1" dirty="0">
                <a:solidFill>
                  <a:srgbClr val="0B254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2024</a:t>
            </a:r>
            <a:endParaRPr lang="en-US" sz="810" dirty="0"/>
          </a:p>
        </p:txBody>
      </p:sp>
      <p:sp>
        <p:nvSpPr>
          <p:cNvPr id="24" name="Text 22"/>
          <p:cNvSpPr txBox="1"/>
          <p:nvPr/>
        </p:nvSpPr>
        <p:spPr>
          <a:xfrm>
            <a:off x="5840254" y="5746433"/>
            <a:ext cx="10042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1 337,8 млн тг</a:t>
            </a:r>
            <a:endParaRPr lang="en-US" sz="81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974080"/>
            <a:ext cx="629126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Завершены</a:t>
            </a:r>
            <a:endParaRPr lang="en-US" sz="840" dirty="0"/>
          </a:p>
        </p:txBody>
      </p:sp>
      <p:sp>
        <p:nvSpPr>
          <p:cNvPr id="26" name="Text 24"/>
          <p:cNvSpPr txBox="1"/>
          <p:nvPr/>
        </p:nvSpPr>
        <p:spPr>
          <a:xfrm>
            <a:off x="1688306" y="5974080"/>
            <a:ext cx="776168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завершены</a:t>
            </a:r>
            <a:endParaRPr lang="en-US" sz="840" dirty="0"/>
          </a:p>
        </p:txBody>
      </p:sp>
      <p:sp>
        <p:nvSpPr>
          <p:cNvPr id="27" name="Text 25"/>
          <p:cNvSpPr txBox="1"/>
          <p:nvPr/>
        </p:nvSpPr>
        <p:spPr>
          <a:xfrm>
            <a:off x="7639288" y="2879050"/>
            <a:ext cx="3874532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позиций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639288" y="3282910"/>
            <a:ext cx="387453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замена лифтов на 412,2 млн тг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631668" y="5027890"/>
            <a:ext cx="39126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50" b="1" spc="75" kern="0" dirty="0">
                <a:solidFill>
                  <a:srgbClr val="B47A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НЕОБХОДИМО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7631668" y="5211723"/>
            <a:ext cx="3912632" cy="38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08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Завершить 10 объектов 2020–2022 гг. (выделено 712,4 млн тг); переразработать 37 ПСД</a:t>
            </a:r>
            <a:endParaRPr lang="en-US" sz="108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6507480"/>
            <a:ext cx="10218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 ЖКХ и жилищной инспекции г. Атырау</a:t>
            </a:r>
            <a:endParaRPr lang="en-US" sz="780" dirty="0"/>
          </a:p>
        </p:txBody>
      </p:sp>
      <p:sp>
        <p:nvSpPr>
          <p:cNvPr id="32" name="Text 30"/>
          <p:cNvSpPr txBox="1"/>
          <p:nvPr/>
        </p:nvSpPr>
        <p:spPr>
          <a:xfrm>
            <a:off x="11377136" y="6507480"/>
            <a:ext cx="3729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22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661416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spc="109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ВОДОСНАБЖЕНИЕ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563880"/>
            <a:ext cx="6888480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0"/>
              </a:lnSpc>
              <a:buNone/>
            </a:pPr>
            <a:r>
              <a:rPr lang="en-US" sz="2280" b="1" spc="-23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Капитальный ремонт объектов водоснабжения</a:t>
            </a:r>
            <a:endParaRPr lang="en-US" sz="2280" dirty="0"/>
          </a:p>
        </p:txBody>
      </p:sp>
      <p:sp>
        <p:nvSpPr>
          <p:cNvPr id="4" name="Text 2"/>
          <p:cNvSpPr txBox="1"/>
          <p:nvPr/>
        </p:nvSpPr>
        <p:spPr>
          <a:xfrm>
            <a:off x="7741920" y="880348"/>
            <a:ext cx="3962400" cy="35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99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Цель — качественная питьевая вода, снижение износа и аварийности сетей. Завершение — 2026 год</a:t>
            </a:r>
            <a:endParaRPr lang="en-US" sz="99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3646527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Схема участков капремонта водопроводных сетей</a:t>
            </a:r>
            <a:endParaRPr lang="en-US" sz="81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5425083"/>
            <a:ext cx="2179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Монтаж оборудования в колодце</a:t>
            </a:r>
            <a:endParaRPr lang="en-US" sz="810" dirty="0"/>
          </a:p>
        </p:txBody>
      </p:sp>
      <p:sp>
        <p:nvSpPr>
          <p:cNvPr id="7" name="Text 5"/>
          <p:cNvSpPr txBox="1"/>
          <p:nvPr/>
        </p:nvSpPr>
        <p:spPr>
          <a:xfrm>
            <a:off x="3078480" y="5425083"/>
            <a:ext cx="2179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Новая запорная арматура</a:t>
            </a:r>
            <a:endParaRPr lang="en-US" sz="810" dirty="0"/>
          </a:p>
        </p:txBody>
      </p:sp>
      <p:sp>
        <p:nvSpPr>
          <p:cNvPr id="8" name="Text 6"/>
          <p:cNvSpPr txBox="1"/>
          <p:nvPr/>
        </p:nvSpPr>
        <p:spPr>
          <a:xfrm>
            <a:off x="5832872" y="1686878"/>
            <a:ext cx="19454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80" b="1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6225540" y="1614488"/>
            <a:ext cx="348996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32,6 км</a:t>
            </a:r>
            <a:endParaRPr lang="en-US" sz="1080" dirty="0"/>
          </a:p>
        </p:txBody>
      </p:sp>
      <p:sp>
        <p:nvSpPr>
          <p:cNvPr id="10" name="Text 8"/>
          <p:cNvSpPr txBox="1"/>
          <p:nvPr/>
        </p:nvSpPr>
        <p:spPr>
          <a:xfrm>
            <a:off x="6225540" y="1782128"/>
            <a:ext cx="348996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договор 2 978,7 млн тг</a:t>
            </a:r>
            <a:endParaRPr lang="en-US" sz="840" dirty="0"/>
          </a:p>
        </p:txBody>
      </p:sp>
      <p:sp>
        <p:nvSpPr>
          <p:cNvPr id="11" name="Text 9"/>
          <p:cNvSpPr txBox="1"/>
          <p:nvPr/>
        </p:nvSpPr>
        <p:spPr>
          <a:xfrm>
            <a:off x="9936480" y="1702118"/>
            <a:ext cx="110811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dirty="0">
                <a:solidFill>
                  <a:srgbClr val="1E8F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завершающая стадия</a:t>
            </a:r>
            <a:endParaRPr lang="en-US" sz="780" dirty="0"/>
          </a:p>
        </p:txBody>
      </p:sp>
      <p:sp>
        <p:nvSpPr>
          <p:cNvPr id="12" name="Text 10"/>
          <p:cNvSpPr txBox="1"/>
          <p:nvPr/>
        </p:nvSpPr>
        <p:spPr>
          <a:xfrm>
            <a:off x="5819299" y="2243138"/>
            <a:ext cx="20812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80" b="1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225540" y="2170748"/>
            <a:ext cx="348996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19,3 км</a:t>
            </a:r>
            <a:endParaRPr lang="en-US" sz="1080" dirty="0"/>
          </a:p>
        </p:txBody>
      </p:sp>
      <p:sp>
        <p:nvSpPr>
          <p:cNvPr id="14" name="Text 12"/>
          <p:cNvSpPr txBox="1"/>
          <p:nvPr/>
        </p:nvSpPr>
        <p:spPr>
          <a:xfrm>
            <a:off x="6225540" y="2338388"/>
            <a:ext cx="348996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договор 1 880,1 млн тг</a:t>
            </a:r>
            <a:endParaRPr lang="en-US" sz="840" dirty="0"/>
          </a:p>
        </p:txBody>
      </p:sp>
      <p:sp>
        <p:nvSpPr>
          <p:cNvPr id="15" name="Text 13"/>
          <p:cNvSpPr txBox="1"/>
          <p:nvPr/>
        </p:nvSpPr>
        <p:spPr>
          <a:xfrm>
            <a:off x="9852660" y="2193608"/>
            <a:ext cx="388501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18,4 км</a:t>
            </a:r>
            <a:endParaRPr lang="en-US" sz="840" dirty="0"/>
          </a:p>
        </p:txBody>
      </p:sp>
      <p:sp>
        <p:nvSpPr>
          <p:cNvPr id="16" name="Text 14"/>
          <p:cNvSpPr txBox="1"/>
          <p:nvPr/>
        </p:nvSpPr>
        <p:spPr>
          <a:xfrm>
            <a:off x="11167705" y="2193608"/>
            <a:ext cx="40707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95,3%</a:t>
            </a:r>
            <a:endParaRPr lang="en-US" sz="960" dirty="0"/>
          </a:p>
        </p:txBody>
      </p:sp>
      <p:sp>
        <p:nvSpPr>
          <p:cNvPr id="17" name="Text 15"/>
          <p:cNvSpPr txBox="1"/>
          <p:nvPr/>
        </p:nvSpPr>
        <p:spPr>
          <a:xfrm>
            <a:off x="5819180" y="2799398"/>
            <a:ext cx="208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80" b="1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80" dirty="0"/>
          </a:p>
        </p:txBody>
      </p:sp>
      <p:sp>
        <p:nvSpPr>
          <p:cNvPr id="18" name="Text 16"/>
          <p:cNvSpPr txBox="1"/>
          <p:nvPr/>
        </p:nvSpPr>
        <p:spPr>
          <a:xfrm>
            <a:off x="6225540" y="2727008"/>
            <a:ext cx="348996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20,7 км</a:t>
            </a:r>
            <a:endParaRPr lang="en-US" sz="1080" dirty="0"/>
          </a:p>
        </p:txBody>
      </p:sp>
      <p:sp>
        <p:nvSpPr>
          <p:cNvPr id="19" name="Text 17"/>
          <p:cNvSpPr txBox="1"/>
          <p:nvPr/>
        </p:nvSpPr>
        <p:spPr>
          <a:xfrm>
            <a:off x="6225540" y="2894648"/>
            <a:ext cx="348996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договор 2 146,8 млн тг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9852660" y="2749868"/>
            <a:ext cx="390644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14,6 км</a:t>
            </a:r>
            <a:endParaRPr lang="en-US" sz="840" dirty="0"/>
          </a:p>
        </p:txBody>
      </p:sp>
      <p:sp>
        <p:nvSpPr>
          <p:cNvPr id="21" name="Text 19"/>
          <p:cNvSpPr txBox="1"/>
          <p:nvPr/>
        </p:nvSpPr>
        <p:spPr>
          <a:xfrm>
            <a:off x="11164491" y="2749868"/>
            <a:ext cx="4102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70,5%</a:t>
            </a:r>
            <a:endParaRPr lang="en-US" sz="960" dirty="0"/>
          </a:p>
        </p:txBody>
      </p:sp>
      <p:sp>
        <p:nvSpPr>
          <p:cNvPr id="22" name="Text 20"/>
          <p:cNvSpPr txBox="1"/>
          <p:nvPr/>
        </p:nvSpPr>
        <p:spPr>
          <a:xfrm>
            <a:off x="5692140" y="3454717"/>
            <a:ext cx="1722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Общая протяжённость</a:t>
            </a:r>
            <a:endParaRPr lang="en-US" sz="810" dirty="0"/>
          </a:p>
        </p:txBody>
      </p:sp>
      <p:sp>
        <p:nvSpPr>
          <p:cNvPr id="23" name="Text 21"/>
          <p:cNvSpPr txBox="1"/>
          <p:nvPr/>
        </p:nvSpPr>
        <p:spPr>
          <a:xfrm>
            <a:off x="5692140" y="3626525"/>
            <a:ext cx="17221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56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72,6</a:t>
            </a:r>
            <a:pPr algn="l" indent="0" marL="0">
              <a:lnSpc>
                <a:spcPts val="1200"/>
              </a:lnSpc>
              <a:buNone/>
            </a:pPr>
            <a:r>
              <a:rPr lang="en-US" sz="860" b="1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км</a:t>
            </a:r>
            <a:endParaRPr lang="en-US" sz="1560" dirty="0"/>
          </a:p>
        </p:txBody>
      </p:sp>
      <p:sp>
        <p:nvSpPr>
          <p:cNvPr id="24" name="Text 22"/>
          <p:cNvSpPr txBox="1"/>
          <p:nvPr/>
        </p:nvSpPr>
        <p:spPr>
          <a:xfrm>
            <a:off x="7757160" y="3454717"/>
            <a:ext cx="1714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Общая стоимость</a:t>
            </a:r>
            <a:endParaRPr lang="en-US" sz="810" dirty="0"/>
          </a:p>
        </p:txBody>
      </p:sp>
      <p:sp>
        <p:nvSpPr>
          <p:cNvPr id="25" name="Text 23"/>
          <p:cNvSpPr txBox="1"/>
          <p:nvPr/>
        </p:nvSpPr>
        <p:spPr>
          <a:xfrm>
            <a:off x="7757160" y="3626525"/>
            <a:ext cx="17145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56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7 014,6</a:t>
            </a:r>
            <a:pPr algn="l" indent="0" marL="0">
              <a:lnSpc>
                <a:spcPts val="1200"/>
              </a:lnSpc>
              <a:buNone/>
            </a:pPr>
            <a:r>
              <a:rPr lang="en-US" sz="860" b="1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млн тг</a:t>
            </a:r>
            <a:endParaRPr lang="en-US" sz="1560" dirty="0"/>
          </a:p>
        </p:txBody>
      </p:sp>
      <p:sp>
        <p:nvSpPr>
          <p:cNvPr id="26" name="Text 24"/>
          <p:cNvSpPr txBox="1"/>
          <p:nvPr/>
        </p:nvSpPr>
        <p:spPr>
          <a:xfrm>
            <a:off x="9814560" y="3454717"/>
            <a:ext cx="1714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Освоено (1–3 этапы)</a:t>
            </a:r>
            <a:endParaRPr lang="en-US" sz="810" dirty="0"/>
          </a:p>
        </p:txBody>
      </p:sp>
      <p:sp>
        <p:nvSpPr>
          <p:cNvPr id="27" name="Text 25"/>
          <p:cNvSpPr txBox="1"/>
          <p:nvPr/>
        </p:nvSpPr>
        <p:spPr>
          <a:xfrm>
            <a:off x="9814560" y="3626525"/>
            <a:ext cx="17145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56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3 908,3</a:t>
            </a:r>
            <a:pPr algn="l" indent="0" marL="0">
              <a:lnSpc>
                <a:spcPts val="1200"/>
              </a:lnSpc>
              <a:buNone/>
            </a:pPr>
            <a:r>
              <a:rPr lang="en-US" sz="860" b="1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млн тг</a:t>
            </a:r>
            <a:endParaRPr lang="en-US" sz="1560" dirty="0"/>
          </a:p>
        </p:txBody>
      </p:sp>
      <p:sp>
        <p:nvSpPr>
          <p:cNvPr id="28" name="Text 26"/>
          <p:cNvSpPr txBox="1"/>
          <p:nvPr/>
        </p:nvSpPr>
        <p:spPr>
          <a:xfrm>
            <a:off x="5707380" y="4303752"/>
            <a:ext cx="580644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90" b="1" spc="69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ПОДРЯДНАЯ ОРГАНИЗАЦИЯ</a:t>
            </a:r>
            <a:endParaRPr lang="en-US" sz="690" dirty="0"/>
          </a:p>
        </p:txBody>
      </p:sp>
      <p:sp>
        <p:nvSpPr>
          <p:cNvPr id="29" name="Text 27"/>
          <p:cNvSpPr txBox="1"/>
          <p:nvPr/>
        </p:nvSpPr>
        <p:spPr>
          <a:xfrm>
            <a:off x="5707380" y="4429601"/>
            <a:ext cx="58064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3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ТОО «Бекболатовтар Құрылыс Компаниясы»</a:t>
            </a:r>
            <a:endParaRPr lang="en-US" sz="930" dirty="0"/>
          </a:p>
        </p:txBody>
      </p:sp>
      <p:sp>
        <p:nvSpPr>
          <p:cNvPr id="30" name="Text 28"/>
          <p:cNvSpPr txBox="1"/>
          <p:nvPr/>
        </p:nvSpPr>
        <p:spPr>
          <a:xfrm>
            <a:off x="5707380" y="4688086"/>
            <a:ext cx="580644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90" b="1" spc="69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ТЕХНИЧЕСКИЙ НАДЗОР</a:t>
            </a:r>
            <a:endParaRPr lang="en-US" sz="690" dirty="0"/>
          </a:p>
        </p:txBody>
      </p:sp>
      <p:sp>
        <p:nvSpPr>
          <p:cNvPr id="31" name="Text 29"/>
          <p:cNvSpPr txBox="1"/>
          <p:nvPr/>
        </p:nvSpPr>
        <p:spPr>
          <a:xfrm>
            <a:off x="5707380" y="4813935"/>
            <a:ext cx="58064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3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«Тараз-Технопроект» (1 этап), «Саулет Эксперт» (2), «Building Control» (3)</a:t>
            </a:r>
            <a:endParaRPr lang="en-US" sz="930" dirty="0"/>
          </a:p>
        </p:txBody>
      </p:sp>
      <p:sp>
        <p:nvSpPr>
          <p:cNvPr id="32" name="Text 30"/>
          <p:cNvSpPr txBox="1"/>
          <p:nvPr/>
        </p:nvSpPr>
        <p:spPr>
          <a:xfrm>
            <a:off x="5707380" y="5072420"/>
            <a:ext cx="580644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90" b="1" spc="69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АВТОРСКИЙ НАДЗОР</a:t>
            </a:r>
            <a:endParaRPr lang="en-US" sz="690" dirty="0"/>
          </a:p>
        </p:txBody>
      </p:sp>
      <p:sp>
        <p:nvSpPr>
          <p:cNvPr id="33" name="Text 31"/>
          <p:cNvSpPr txBox="1"/>
          <p:nvPr/>
        </p:nvSpPr>
        <p:spPr>
          <a:xfrm>
            <a:off x="5707380" y="5198269"/>
            <a:ext cx="58064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3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ТОО «ТМ Проект Строй»</a:t>
            </a:r>
            <a:endParaRPr lang="en-US" sz="930" dirty="0"/>
          </a:p>
        </p:txBody>
      </p:sp>
      <p:sp>
        <p:nvSpPr>
          <p:cNvPr id="34" name="Text 32"/>
          <p:cNvSpPr txBox="1"/>
          <p:nvPr/>
        </p:nvSpPr>
        <p:spPr>
          <a:xfrm>
            <a:off x="5715000" y="5825014"/>
            <a:ext cx="19429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b="1" spc="86" kern="0" dirty="0">
                <a:solidFill>
                  <a:srgbClr val="E3A2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ТРЕБУЕТСЯ</a:t>
            </a:r>
            <a:endParaRPr lang="en-US" sz="720" dirty="0"/>
          </a:p>
        </p:txBody>
      </p:sp>
      <p:sp>
        <p:nvSpPr>
          <p:cNvPr id="35" name="Text 33"/>
          <p:cNvSpPr txBox="1"/>
          <p:nvPr/>
        </p:nvSpPr>
        <p:spPr>
          <a:xfrm>
            <a:off x="5715000" y="5971223"/>
            <a:ext cx="198870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для завершения работ в 2026 году</a:t>
            </a:r>
            <a:endParaRPr lang="en-US" sz="930" dirty="0"/>
          </a:p>
        </p:txBody>
      </p:sp>
      <p:sp>
        <p:nvSpPr>
          <p:cNvPr id="36" name="Text 34"/>
          <p:cNvSpPr txBox="1"/>
          <p:nvPr/>
        </p:nvSpPr>
        <p:spPr>
          <a:xfrm>
            <a:off x="10069473" y="5821680"/>
            <a:ext cx="14824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3 097,4</a:t>
            </a:r>
            <a:pPr algn="l" indent="0" marL="0">
              <a:lnSpc>
                <a:spcPts val="255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млн тг</a:t>
            </a:r>
            <a:endParaRPr lang="en-US" sz="204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6507480"/>
            <a:ext cx="102144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 ЖКХ и жилищной инспекции г. Атырау</a:t>
            </a:r>
            <a:endParaRPr lang="en-US" sz="780" dirty="0"/>
          </a:p>
        </p:txBody>
      </p:sp>
      <p:sp>
        <p:nvSpPr>
          <p:cNvPr id="38" name="Text 36"/>
          <p:cNvSpPr txBox="1"/>
          <p:nvPr/>
        </p:nvSpPr>
        <p:spPr>
          <a:xfrm>
            <a:off x="11372731" y="6507480"/>
            <a:ext cx="377309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22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8031123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spc="109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ВОДООТВЕДЕНИЕ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563880"/>
            <a:ext cx="8351163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0"/>
              </a:lnSpc>
              <a:buNone/>
            </a:pPr>
            <a:r>
              <a:rPr lang="en-US" sz="2280" b="1" spc="-23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Капитальный ремонт канализации методом санации</a:t>
            </a:r>
            <a:endParaRPr lang="en-US" sz="2280" dirty="0"/>
          </a:p>
        </p:txBody>
      </p:sp>
      <p:sp>
        <p:nvSpPr>
          <p:cNvPr id="4" name="Text 2"/>
          <p:cNvSpPr txBox="1"/>
          <p:nvPr/>
        </p:nvSpPr>
        <p:spPr>
          <a:xfrm>
            <a:off x="632460" y="1270159"/>
            <a:ext cx="337816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90" b="1" spc="83" kern="0" dirty="0">
                <a:solidFill>
                  <a:srgbClr val="C838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 РЕМОНТА</a:t>
            </a:r>
            <a:endParaRPr lang="en-US" sz="690" dirty="0"/>
          </a:p>
        </p:txBody>
      </p:sp>
      <p:sp>
        <p:nvSpPr>
          <p:cNvPr id="5" name="Text 3"/>
          <p:cNvSpPr txBox="1"/>
          <p:nvPr/>
        </p:nvSpPr>
        <p:spPr>
          <a:xfrm>
            <a:off x="632460" y="1414939"/>
            <a:ext cx="3378637" cy="32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3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Изношенные канализационные трубы — 33,4 км, 3 пусковых комплекса</a:t>
            </a:r>
            <a:endParaRPr lang="en-US" sz="930" dirty="0"/>
          </a:p>
        </p:txBody>
      </p:sp>
      <p:sp>
        <p:nvSpPr>
          <p:cNvPr id="6" name="Text 4"/>
          <p:cNvSpPr txBox="1"/>
          <p:nvPr/>
        </p:nvSpPr>
        <p:spPr>
          <a:xfrm>
            <a:off x="4406860" y="1270159"/>
            <a:ext cx="337816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90" b="1" spc="83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САНАЦИЯ — 18,0 КМ</a:t>
            </a:r>
            <a:endParaRPr lang="en-US" sz="690" dirty="0"/>
          </a:p>
        </p:txBody>
      </p:sp>
      <p:sp>
        <p:nvSpPr>
          <p:cNvPr id="7" name="Text 5"/>
          <p:cNvSpPr txBox="1"/>
          <p:nvPr/>
        </p:nvSpPr>
        <p:spPr>
          <a:xfrm>
            <a:off x="4406860" y="1414939"/>
            <a:ext cx="3378160" cy="32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3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Восстановление труб изнутри без вскрытия грунта; остальные участки — иными методами</a:t>
            </a:r>
            <a:endParaRPr lang="en-US" sz="930" dirty="0"/>
          </a:p>
        </p:txBody>
      </p:sp>
      <p:sp>
        <p:nvSpPr>
          <p:cNvPr id="8" name="Text 6"/>
          <p:cNvSpPr txBox="1"/>
          <p:nvPr/>
        </p:nvSpPr>
        <p:spPr>
          <a:xfrm>
            <a:off x="8181261" y="1270159"/>
            <a:ext cx="3378279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90" b="1" spc="83" kern="0" dirty="0">
                <a:solidFill>
                  <a:srgbClr val="E3A2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ПОСЛЕ РЕМОНТА</a:t>
            </a:r>
            <a:endParaRPr lang="en-US" sz="690" dirty="0"/>
          </a:p>
        </p:txBody>
      </p:sp>
      <p:sp>
        <p:nvSpPr>
          <p:cNvPr id="9" name="Text 7"/>
          <p:cNvSpPr txBox="1"/>
          <p:nvPr/>
        </p:nvSpPr>
        <p:spPr>
          <a:xfrm>
            <a:off x="8181261" y="1414939"/>
            <a:ext cx="3378279" cy="32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Обновлённая сеть: герметичность и пропускная способность</a:t>
            </a:r>
            <a:endParaRPr lang="en-US" sz="930" dirty="0"/>
          </a:p>
        </p:txBody>
      </p:sp>
      <p:sp>
        <p:nvSpPr>
          <p:cNvPr id="10" name="Text 8"/>
          <p:cNvSpPr txBox="1"/>
          <p:nvPr/>
        </p:nvSpPr>
        <p:spPr>
          <a:xfrm>
            <a:off x="803672" y="2251948"/>
            <a:ext cx="19454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80" b="1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1196340" y="2179558"/>
            <a:ext cx="425196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12 972 м</a:t>
            </a:r>
            <a:endParaRPr lang="en-US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196340" y="2347198"/>
            <a:ext cx="425196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договор 8 996,9 млн тг</a:t>
            </a:r>
            <a:endParaRPr lang="en-US" sz="840" dirty="0"/>
          </a:p>
        </p:txBody>
      </p:sp>
      <p:sp>
        <p:nvSpPr>
          <p:cNvPr id="13" name="Text 11"/>
          <p:cNvSpPr txBox="1"/>
          <p:nvPr/>
        </p:nvSpPr>
        <p:spPr>
          <a:xfrm>
            <a:off x="5585460" y="2202418"/>
            <a:ext cx="611148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выполнено</a:t>
            </a:r>
            <a:endParaRPr lang="en-US" sz="840" dirty="0"/>
          </a:p>
        </p:txBody>
      </p:sp>
      <p:sp>
        <p:nvSpPr>
          <p:cNvPr id="14" name="Text 12"/>
          <p:cNvSpPr txBox="1"/>
          <p:nvPr/>
        </p:nvSpPr>
        <p:spPr>
          <a:xfrm>
            <a:off x="6988135" y="2202418"/>
            <a:ext cx="31944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40%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790099" y="2808208"/>
            <a:ext cx="20812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80" b="1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80" dirty="0"/>
          </a:p>
        </p:txBody>
      </p:sp>
      <p:sp>
        <p:nvSpPr>
          <p:cNvPr id="16" name="Text 14"/>
          <p:cNvSpPr txBox="1"/>
          <p:nvPr/>
        </p:nvSpPr>
        <p:spPr>
          <a:xfrm>
            <a:off x="1196340" y="2735818"/>
            <a:ext cx="425196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12 364 м</a:t>
            </a:r>
            <a:endParaRPr lang="en-US" sz="1080" dirty="0"/>
          </a:p>
        </p:txBody>
      </p:sp>
      <p:sp>
        <p:nvSpPr>
          <p:cNvPr id="17" name="Text 15"/>
          <p:cNvSpPr txBox="1"/>
          <p:nvPr/>
        </p:nvSpPr>
        <p:spPr>
          <a:xfrm>
            <a:off x="1196340" y="2903458"/>
            <a:ext cx="425196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договор 7 848,6 млн тг</a:t>
            </a:r>
            <a:endParaRPr lang="en-US" sz="840" dirty="0"/>
          </a:p>
        </p:txBody>
      </p:sp>
      <p:sp>
        <p:nvSpPr>
          <p:cNvPr id="18" name="Text 16"/>
          <p:cNvSpPr txBox="1"/>
          <p:nvPr/>
        </p:nvSpPr>
        <p:spPr>
          <a:xfrm>
            <a:off x="5585460" y="2758678"/>
            <a:ext cx="611148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выполнено</a:t>
            </a:r>
            <a:endParaRPr lang="en-US" sz="840" dirty="0"/>
          </a:p>
        </p:txBody>
      </p:sp>
      <p:sp>
        <p:nvSpPr>
          <p:cNvPr id="19" name="Text 17"/>
          <p:cNvSpPr txBox="1"/>
          <p:nvPr/>
        </p:nvSpPr>
        <p:spPr>
          <a:xfrm>
            <a:off x="7001947" y="2758678"/>
            <a:ext cx="30563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54%</a:t>
            </a:r>
            <a:endParaRPr lang="en-US" sz="960" dirty="0"/>
          </a:p>
        </p:txBody>
      </p:sp>
      <p:sp>
        <p:nvSpPr>
          <p:cNvPr id="20" name="Text 18"/>
          <p:cNvSpPr txBox="1"/>
          <p:nvPr/>
        </p:nvSpPr>
        <p:spPr>
          <a:xfrm>
            <a:off x="789980" y="3364468"/>
            <a:ext cx="208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80" b="1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80" dirty="0"/>
          </a:p>
        </p:txBody>
      </p:sp>
      <p:sp>
        <p:nvSpPr>
          <p:cNvPr id="21" name="Text 19"/>
          <p:cNvSpPr txBox="1"/>
          <p:nvPr/>
        </p:nvSpPr>
        <p:spPr>
          <a:xfrm>
            <a:off x="1196340" y="3292078"/>
            <a:ext cx="425196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8 065 м</a:t>
            </a:r>
            <a:endParaRPr lang="en-US" sz="1080" dirty="0"/>
          </a:p>
        </p:txBody>
      </p:sp>
      <p:sp>
        <p:nvSpPr>
          <p:cNvPr id="22" name="Text 20"/>
          <p:cNvSpPr txBox="1"/>
          <p:nvPr/>
        </p:nvSpPr>
        <p:spPr>
          <a:xfrm>
            <a:off x="1196340" y="3459718"/>
            <a:ext cx="425196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договор 3 173,1 млн тг</a:t>
            </a:r>
            <a:endParaRPr lang="en-US" sz="840" dirty="0"/>
          </a:p>
        </p:txBody>
      </p:sp>
      <p:sp>
        <p:nvSpPr>
          <p:cNvPr id="23" name="Text 21"/>
          <p:cNvSpPr txBox="1"/>
          <p:nvPr/>
        </p:nvSpPr>
        <p:spPr>
          <a:xfrm>
            <a:off x="5585460" y="3314938"/>
            <a:ext cx="611148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выполнено</a:t>
            </a:r>
            <a:endParaRPr lang="en-US" sz="84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3314938"/>
            <a:ext cx="3124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88%</a:t>
            </a:r>
            <a:endParaRPr lang="en-US" sz="960" dirty="0"/>
          </a:p>
        </p:txBody>
      </p:sp>
      <p:sp>
        <p:nvSpPr>
          <p:cNvPr id="25" name="Text 23"/>
          <p:cNvSpPr txBox="1"/>
          <p:nvPr/>
        </p:nvSpPr>
        <p:spPr>
          <a:xfrm>
            <a:off x="662940" y="4019788"/>
            <a:ext cx="197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Протяжённость</a:t>
            </a:r>
            <a:endParaRPr lang="en-US" sz="810" dirty="0"/>
          </a:p>
        </p:txBody>
      </p:sp>
      <p:sp>
        <p:nvSpPr>
          <p:cNvPr id="26" name="Text 24"/>
          <p:cNvSpPr txBox="1"/>
          <p:nvPr/>
        </p:nvSpPr>
        <p:spPr>
          <a:xfrm>
            <a:off x="662940" y="4191595"/>
            <a:ext cx="19760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56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33,4</a:t>
            </a:r>
            <a:pPr algn="l" indent="0" marL="0">
              <a:lnSpc>
                <a:spcPts val="1200"/>
              </a:lnSpc>
              <a:buNone/>
            </a:pPr>
            <a:r>
              <a:rPr lang="en-US" sz="860" b="1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км</a:t>
            </a:r>
            <a:endParaRPr lang="en-US" sz="1560" dirty="0"/>
          </a:p>
        </p:txBody>
      </p:sp>
      <p:sp>
        <p:nvSpPr>
          <p:cNvPr id="27" name="Text 25"/>
          <p:cNvSpPr txBox="1"/>
          <p:nvPr/>
        </p:nvSpPr>
        <p:spPr>
          <a:xfrm>
            <a:off x="2981920" y="4019788"/>
            <a:ext cx="19684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Методом санации</a:t>
            </a:r>
            <a:endParaRPr lang="en-US" sz="810" dirty="0"/>
          </a:p>
        </p:txBody>
      </p:sp>
      <p:sp>
        <p:nvSpPr>
          <p:cNvPr id="28" name="Text 26"/>
          <p:cNvSpPr txBox="1"/>
          <p:nvPr/>
        </p:nvSpPr>
        <p:spPr>
          <a:xfrm>
            <a:off x="2981920" y="4191595"/>
            <a:ext cx="19684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56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18,0</a:t>
            </a:r>
            <a:pPr algn="l" indent="0" marL="0">
              <a:lnSpc>
                <a:spcPts val="1200"/>
              </a:lnSpc>
              <a:buNone/>
            </a:pPr>
            <a:r>
              <a:rPr lang="en-US" sz="860" b="1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км</a:t>
            </a:r>
            <a:endParaRPr lang="en-US" sz="1560" dirty="0"/>
          </a:p>
        </p:txBody>
      </p:sp>
      <p:sp>
        <p:nvSpPr>
          <p:cNvPr id="29" name="Text 27"/>
          <p:cNvSpPr txBox="1"/>
          <p:nvPr/>
        </p:nvSpPr>
        <p:spPr>
          <a:xfrm>
            <a:off x="5293281" y="4019788"/>
            <a:ext cx="1968579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Сумма договоров</a:t>
            </a:r>
            <a:endParaRPr lang="en-US" sz="810" dirty="0"/>
          </a:p>
        </p:txBody>
      </p:sp>
      <p:sp>
        <p:nvSpPr>
          <p:cNvPr id="30" name="Text 28"/>
          <p:cNvSpPr txBox="1"/>
          <p:nvPr/>
        </p:nvSpPr>
        <p:spPr>
          <a:xfrm>
            <a:off x="5293281" y="4191595"/>
            <a:ext cx="1968579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56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20 018,6</a:t>
            </a:r>
            <a:pPr algn="l" indent="0" marL="0">
              <a:lnSpc>
                <a:spcPts val="1200"/>
              </a:lnSpc>
              <a:buNone/>
            </a:pPr>
            <a:r>
              <a:rPr lang="en-US" sz="860" b="1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млн тг</a:t>
            </a:r>
            <a:endParaRPr lang="en-US" sz="1560" dirty="0"/>
          </a:p>
        </p:txBody>
      </p:sp>
      <p:sp>
        <p:nvSpPr>
          <p:cNvPr id="31" name="Text 29"/>
          <p:cNvSpPr txBox="1"/>
          <p:nvPr/>
        </p:nvSpPr>
        <p:spPr>
          <a:xfrm>
            <a:off x="678180" y="5151834"/>
            <a:ext cx="656844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90" b="1" spc="69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ПОДРЯДНЫЕ ОРГАНИЗАЦИИ</a:t>
            </a:r>
            <a:endParaRPr lang="en-US" sz="690" dirty="0"/>
          </a:p>
        </p:txBody>
      </p:sp>
      <p:sp>
        <p:nvSpPr>
          <p:cNvPr id="32" name="Text 30"/>
          <p:cNvSpPr txBox="1"/>
          <p:nvPr/>
        </p:nvSpPr>
        <p:spPr>
          <a:xfrm>
            <a:off x="678180" y="5277683"/>
            <a:ext cx="65684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3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«Сапа Құрылыс 2007» (комплексы 1–2), «Агидель-Ас» (3)</a:t>
            </a:r>
            <a:endParaRPr lang="en-US" sz="930" dirty="0"/>
          </a:p>
        </p:txBody>
      </p:sp>
      <p:sp>
        <p:nvSpPr>
          <p:cNvPr id="33" name="Text 31"/>
          <p:cNvSpPr txBox="1"/>
          <p:nvPr/>
        </p:nvSpPr>
        <p:spPr>
          <a:xfrm>
            <a:off x="678180" y="5536168"/>
            <a:ext cx="656844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90" b="1" spc="69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ТЕХНИЧЕСКИЙ НАДЗОР · АВТОРСКИЙ НАДЗОР</a:t>
            </a:r>
            <a:endParaRPr lang="en-US" sz="690" dirty="0"/>
          </a:p>
        </p:txBody>
      </p:sp>
      <p:sp>
        <p:nvSpPr>
          <p:cNvPr id="34" name="Text 32"/>
          <p:cNvSpPr txBox="1"/>
          <p:nvPr/>
        </p:nvSpPr>
        <p:spPr>
          <a:xfrm>
            <a:off x="678180" y="5662017"/>
            <a:ext cx="65684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3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«Мерей-Тайынша» (1–2), «АстанаДорАркитекс» (3) · ТОО «Стримлайн»</a:t>
            </a:r>
            <a:endParaRPr lang="en-US" sz="930" dirty="0"/>
          </a:p>
        </p:txBody>
      </p:sp>
      <p:sp>
        <p:nvSpPr>
          <p:cNvPr id="35" name="Text 33"/>
          <p:cNvSpPr txBox="1"/>
          <p:nvPr/>
        </p:nvSpPr>
        <p:spPr>
          <a:xfrm>
            <a:off x="7696200" y="4261604"/>
            <a:ext cx="3901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Работы по санации канализационной сети</a:t>
            </a:r>
            <a:endParaRPr lang="en-US" sz="810" dirty="0"/>
          </a:p>
        </p:txBody>
      </p:sp>
      <p:sp>
        <p:nvSpPr>
          <p:cNvPr id="36" name="Text 34"/>
          <p:cNvSpPr txBox="1"/>
          <p:nvPr/>
        </p:nvSpPr>
        <p:spPr>
          <a:xfrm>
            <a:off x="7696200" y="5962293"/>
            <a:ext cx="1798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Монтаж колодца</a:t>
            </a:r>
            <a:endParaRPr lang="en-US" sz="810" dirty="0"/>
          </a:p>
        </p:txBody>
      </p:sp>
      <p:sp>
        <p:nvSpPr>
          <p:cNvPr id="37" name="Text 35"/>
          <p:cNvSpPr txBox="1"/>
          <p:nvPr/>
        </p:nvSpPr>
        <p:spPr>
          <a:xfrm>
            <a:off x="9799320" y="5962293"/>
            <a:ext cx="1798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Санация трубы изнутри</a:t>
            </a:r>
            <a:endParaRPr lang="en-US" sz="81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6507480"/>
            <a:ext cx="1021663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 ЖКХ и жилищной инспекции г. Атырау</a:t>
            </a:r>
            <a:endParaRPr lang="en-US" sz="780" dirty="0"/>
          </a:p>
        </p:txBody>
      </p:sp>
      <p:sp>
        <p:nvSpPr>
          <p:cNvPr id="39" name="Text 37"/>
          <p:cNvSpPr txBox="1"/>
          <p:nvPr/>
        </p:nvSpPr>
        <p:spPr>
          <a:xfrm>
            <a:off x="11374874" y="6507480"/>
            <a:ext cx="3751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22</a:t>
            </a:r>
            <a:endParaRPr lang="en-US" sz="8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6334006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spc="109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ВОДООТВЕДЕНИЕ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563880"/>
            <a:ext cx="6654046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0"/>
              </a:lnSpc>
              <a:buNone/>
            </a:pPr>
            <a:r>
              <a:rPr lang="en-US" sz="2280" b="1" spc="-23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Канализационные сети в жилых массивах</a:t>
            </a:r>
            <a:endParaRPr lang="en-US" sz="228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550450"/>
            <a:ext cx="6339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Участки новых канализационных сетей</a:t>
            </a:r>
            <a:endParaRPr lang="en-US" sz="810" dirty="0"/>
          </a:p>
        </p:txBody>
      </p:sp>
      <p:sp>
        <p:nvSpPr>
          <p:cNvPr id="5" name="Text 3"/>
          <p:cNvSpPr txBox="1"/>
          <p:nvPr/>
        </p:nvSpPr>
        <p:spPr>
          <a:xfrm>
            <a:off x="678180" y="5211247"/>
            <a:ext cx="6172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50" b="1" spc="75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ОХВАТ — 12 ЖИЛЫХ МАССИВОВ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5480804"/>
            <a:ext cx="826413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143C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Мясокомбинат</a:t>
            </a:r>
            <a:endParaRPr lang="en-US" sz="840" dirty="0"/>
          </a:p>
        </p:txBody>
      </p:sp>
      <p:sp>
        <p:nvSpPr>
          <p:cNvPr id="7" name="Text 5"/>
          <p:cNvSpPr txBox="1"/>
          <p:nvPr/>
        </p:nvSpPr>
        <p:spPr>
          <a:xfrm>
            <a:off x="1817013" y="5480804"/>
            <a:ext cx="42922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143C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Атырау</a:t>
            </a:r>
            <a:endParaRPr lang="en-US" sz="840" dirty="0"/>
          </a:p>
        </p:txBody>
      </p:sp>
      <p:sp>
        <p:nvSpPr>
          <p:cNvPr id="8" name="Text 6"/>
          <p:cNvSpPr txBox="1"/>
          <p:nvPr/>
        </p:nvSpPr>
        <p:spPr>
          <a:xfrm>
            <a:off x="2459593" y="5480804"/>
            <a:ext cx="699135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143C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Жумыскер-2</a:t>
            </a:r>
            <a:endParaRPr lang="en-US" sz="840" dirty="0"/>
          </a:p>
        </p:txBody>
      </p:sp>
      <p:sp>
        <p:nvSpPr>
          <p:cNvPr id="9" name="Text 7"/>
          <p:cNvSpPr txBox="1"/>
          <p:nvPr/>
        </p:nvSpPr>
        <p:spPr>
          <a:xfrm>
            <a:off x="3372088" y="5480804"/>
            <a:ext cx="479703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143C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Оркен-2</a:t>
            </a:r>
            <a:endParaRPr lang="en-US" sz="840" dirty="0"/>
          </a:p>
        </p:txBody>
      </p:sp>
      <p:sp>
        <p:nvSpPr>
          <p:cNvPr id="10" name="Text 8"/>
          <p:cNvSpPr txBox="1"/>
          <p:nvPr/>
        </p:nvSpPr>
        <p:spPr>
          <a:xfrm>
            <a:off x="4065151" y="5480804"/>
            <a:ext cx="762953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143C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Сарыкамыс-2</a:t>
            </a:r>
            <a:endParaRPr lang="en-US" sz="840" dirty="0"/>
          </a:p>
        </p:txBody>
      </p:sp>
      <p:sp>
        <p:nvSpPr>
          <p:cNvPr id="11" name="Text 9"/>
          <p:cNvSpPr txBox="1"/>
          <p:nvPr/>
        </p:nvSpPr>
        <p:spPr>
          <a:xfrm>
            <a:off x="5041463" y="5480804"/>
            <a:ext cx="471607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143C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Балауса</a:t>
            </a:r>
            <a:endParaRPr lang="en-US" sz="840" dirty="0"/>
          </a:p>
        </p:txBody>
      </p:sp>
      <p:sp>
        <p:nvSpPr>
          <p:cNvPr id="12" name="Text 10"/>
          <p:cNvSpPr txBox="1"/>
          <p:nvPr/>
        </p:nvSpPr>
        <p:spPr>
          <a:xfrm>
            <a:off x="5726430" y="5480804"/>
            <a:ext cx="38481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143C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Самал</a:t>
            </a:r>
            <a:endParaRPr lang="en-US" sz="840" dirty="0"/>
          </a:p>
        </p:txBody>
      </p:sp>
      <p:sp>
        <p:nvSpPr>
          <p:cNvPr id="13" name="Text 11"/>
          <p:cNvSpPr txBox="1"/>
          <p:nvPr/>
        </p:nvSpPr>
        <p:spPr>
          <a:xfrm>
            <a:off x="6324600" y="5480804"/>
            <a:ext cx="42672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143C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Нурсая</a:t>
            </a:r>
            <a:endParaRPr lang="en-US" sz="84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777984"/>
            <a:ext cx="520065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143C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Жеруйык</a:t>
            </a:r>
            <a:endParaRPr lang="en-US" sz="840" dirty="0"/>
          </a:p>
        </p:txBody>
      </p:sp>
      <p:sp>
        <p:nvSpPr>
          <p:cNvPr id="15" name="Text 13"/>
          <p:cNvSpPr txBox="1"/>
          <p:nvPr/>
        </p:nvSpPr>
        <p:spPr>
          <a:xfrm>
            <a:off x="1510665" y="5777984"/>
            <a:ext cx="528161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143C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Лесхоз-2</a:t>
            </a:r>
            <a:endParaRPr lang="en-US" sz="840" dirty="0"/>
          </a:p>
        </p:txBody>
      </p:sp>
      <p:sp>
        <p:nvSpPr>
          <p:cNvPr id="16" name="Text 14"/>
          <p:cNvSpPr txBox="1"/>
          <p:nvPr/>
        </p:nvSpPr>
        <p:spPr>
          <a:xfrm>
            <a:off x="2252186" y="5777984"/>
            <a:ext cx="544116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143C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Мунайшы</a:t>
            </a:r>
            <a:endParaRPr lang="en-US" sz="840" dirty="0"/>
          </a:p>
        </p:txBody>
      </p:sp>
      <p:sp>
        <p:nvSpPr>
          <p:cNvPr id="17" name="Text 15"/>
          <p:cNvSpPr txBox="1"/>
          <p:nvPr/>
        </p:nvSpPr>
        <p:spPr>
          <a:xfrm>
            <a:off x="3009662" y="5777984"/>
            <a:ext cx="690801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143C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Химпоселок</a:t>
            </a:r>
            <a:endParaRPr lang="en-US" sz="840" dirty="0"/>
          </a:p>
        </p:txBody>
      </p:sp>
      <p:sp>
        <p:nvSpPr>
          <p:cNvPr id="18" name="Text 16"/>
          <p:cNvSpPr txBox="1"/>
          <p:nvPr/>
        </p:nvSpPr>
        <p:spPr>
          <a:xfrm>
            <a:off x="7383780" y="1254919"/>
            <a:ext cx="18135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112,6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км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383780" y="1658779"/>
            <a:ext cx="18135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новых канализационных сетей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700260" y="1254919"/>
            <a:ext cx="18135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9700260" y="1658779"/>
            <a:ext cx="18135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участков в жилых массивах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383780" y="2262664"/>
            <a:ext cx="413004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598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ИЖД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383780" y="2666524"/>
            <a:ext cx="41300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мкр Сарыкамыс-2, глубина прокладки 1,8 м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376160" y="3529489"/>
            <a:ext cx="41681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50" b="1" spc="75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СТАТУС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7376160" y="3705701"/>
            <a:ext cx="4194334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9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ПСД по мкр Сарыкамыс-2 — на рассмотрении в РГП «Госэкспертиза»; авторский надзор — ТОО «Шындау». После заключения — корректировка ПСД по остальным 10 участкам</a:t>
            </a:r>
            <a:endParaRPr lang="en-US" sz="990" dirty="0"/>
          </a:p>
        </p:txBody>
      </p:sp>
      <p:sp>
        <p:nvSpPr>
          <p:cNvPr id="26" name="Text 24"/>
          <p:cNvSpPr txBox="1"/>
          <p:nvPr/>
        </p:nvSpPr>
        <p:spPr>
          <a:xfrm>
            <a:off x="7376160" y="5174694"/>
            <a:ext cx="41681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50" b="1" spc="75" kern="0" dirty="0">
                <a:solidFill>
                  <a:srgbClr val="B47A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ПРЕДЛОЖЕНИЕ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7376160" y="5350907"/>
            <a:ext cx="4168140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9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Передать реализацию рабочего проекта (11 участков) из ГУ «Городской отдел ЖКХ и жилищной инспекции» в ГУ «Городской отдел строительства»</a:t>
            </a:r>
            <a:endParaRPr lang="en-US" sz="99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6507480"/>
            <a:ext cx="102119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 ЖКХ и жилищной инспекции г. Атырау</a:t>
            </a:r>
            <a:endParaRPr lang="en-US" sz="780" dirty="0"/>
          </a:p>
        </p:txBody>
      </p:sp>
      <p:sp>
        <p:nvSpPr>
          <p:cNvPr id="29" name="Text 27"/>
          <p:cNvSpPr txBox="1"/>
          <p:nvPr/>
        </p:nvSpPr>
        <p:spPr>
          <a:xfrm>
            <a:off x="11370231" y="6507480"/>
            <a:ext cx="379809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22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5903595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spc="109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ОЧИСТНЫЕ СООРУЖЕНИЯ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563880"/>
            <a:ext cx="6223635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0"/>
              </a:lnSpc>
              <a:buNone/>
            </a:pPr>
            <a:r>
              <a:rPr lang="en-US" sz="2280" b="1" spc="-23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Правобережные КОС — реконструкция</a:t>
            </a:r>
            <a:endParaRPr lang="en-US" sz="2280" dirty="0"/>
          </a:p>
        </p:txBody>
      </p:sp>
      <p:sp>
        <p:nvSpPr>
          <p:cNvPr id="4" name="Text 2"/>
          <p:cNvSpPr txBox="1"/>
          <p:nvPr/>
        </p:nvSpPr>
        <p:spPr>
          <a:xfrm>
            <a:off x="9883259" y="729734"/>
            <a:ext cx="1821061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99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Мощность — 31 тыс. м³ в сутки</a:t>
            </a:r>
            <a:endParaRPr lang="en-US" sz="99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3895130"/>
            <a:ext cx="6035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Генеральный план реконструкции правобережных КОС</a:t>
            </a:r>
            <a:endParaRPr lang="en-US" sz="810" dirty="0"/>
          </a:p>
        </p:txBody>
      </p:sp>
      <p:sp>
        <p:nvSpPr>
          <p:cNvPr id="6" name="Text 4"/>
          <p:cNvSpPr txBox="1"/>
          <p:nvPr/>
        </p:nvSpPr>
        <p:spPr>
          <a:xfrm>
            <a:off x="541020" y="5262205"/>
            <a:ext cx="174117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07.10.2021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1020" y="5429845"/>
            <a:ext cx="174117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начало СМР</a:t>
            </a:r>
            <a:endParaRPr lang="en-US" sz="810" dirty="0"/>
          </a:p>
        </p:txBody>
      </p:sp>
      <p:sp>
        <p:nvSpPr>
          <p:cNvPr id="8" name="Text 6"/>
          <p:cNvSpPr txBox="1"/>
          <p:nvPr/>
        </p:nvSpPr>
        <p:spPr>
          <a:xfrm>
            <a:off x="2007870" y="5262205"/>
            <a:ext cx="174117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Сентябрь 2022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007870" y="5429845"/>
            <a:ext cx="174117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начало корректировки</a:t>
            </a:r>
            <a:endParaRPr lang="en-US" sz="81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5262205"/>
            <a:ext cx="174117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13.11.2023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5429845"/>
            <a:ext cx="174117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заключение экспертизы</a:t>
            </a:r>
            <a:endParaRPr lang="en-US" sz="810" dirty="0"/>
          </a:p>
        </p:txBody>
      </p:sp>
      <p:sp>
        <p:nvSpPr>
          <p:cNvPr id="12" name="Text 10"/>
          <p:cNvSpPr txBox="1"/>
          <p:nvPr/>
        </p:nvSpPr>
        <p:spPr>
          <a:xfrm>
            <a:off x="4941570" y="5262205"/>
            <a:ext cx="174117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Конец 2026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941570" y="5429845"/>
            <a:ext cx="174117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завершение СМР</a:t>
            </a:r>
            <a:endParaRPr lang="en-US" sz="810" dirty="0"/>
          </a:p>
        </p:txBody>
      </p:sp>
      <p:sp>
        <p:nvSpPr>
          <p:cNvPr id="14" name="Text 12"/>
          <p:cNvSpPr txBox="1"/>
          <p:nvPr/>
        </p:nvSpPr>
        <p:spPr>
          <a:xfrm>
            <a:off x="7078980" y="1277779"/>
            <a:ext cx="44348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50" b="1" spc="75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ХОД РАБОТ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7078980" y="1501616"/>
            <a:ext cx="159591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Освоено 35,2 из 39,7 млрд тг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115199" y="1501616"/>
            <a:ext cx="44434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102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88,7%</a:t>
            </a:r>
            <a:endParaRPr lang="en-US" sz="1020" dirty="0"/>
          </a:p>
        </p:txBody>
      </p:sp>
      <p:sp>
        <p:nvSpPr>
          <p:cNvPr id="17" name="Text 15"/>
          <p:cNvSpPr txBox="1"/>
          <p:nvPr/>
        </p:nvSpPr>
        <p:spPr>
          <a:xfrm>
            <a:off x="7078980" y="1913096"/>
            <a:ext cx="9301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Выполнено СМР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38905" y="1913096"/>
            <a:ext cx="32063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102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85%</a:t>
            </a:r>
            <a:endParaRPr lang="en-US" sz="1020" dirty="0"/>
          </a:p>
        </p:txBody>
      </p:sp>
      <p:sp>
        <p:nvSpPr>
          <p:cNvPr id="19" name="Text 17"/>
          <p:cNvSpPr txBox="1"/>
          <p:nvPr/>
        </p:nvSpPr>
        <p:spPr>
          <a:xfrm>
            <a:off x="7078980" y="2652236"/>
            <a:ext cx="1965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0"/>
              </a:lnSpc>
              <a:buNone/>
            </a:pPr>
            <a:r>
              <a:rPr lang="en-US" sz="1920" b="1" spc="-19" kern="0" dirty="0">
                <a:solidFill>
                  <a:srgbClr val="C838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944,0</a:t>
            </a:r>
            <a:pPr algn="l" indent="0" marL="0">
              <a:lnSpc>
                <a:spcPts val="2020"/>
              </a:lnSpc>
              <a:buNone/>
            </a:pPr>
            <a:r>
              <a:rPr lang="en-US" sz="96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млн</a:t>
            </a:r>
            <a:endParaRPr lang="en-US" sz="1920" dirty="0"/>
          </a:p>
        </p:txBody>
      </p:sp>
      <p:sp>
        <p:nvSpPr>
          <p:cNvPr id="20" name="Text 18"/>
          <p:cNvSpPr txBox="1"/>
          <p:nvPr/>
        </p:nvSpPr>
        <p:spPr>
          <a:xfrm>
            <a:off x="7078980" y="2984421"/>
            <a:ext cx="19659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задолженность на 01.10.2026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547860" y="2652236"/>
            <a:ext cx="1965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0"/>
              </a:lnSpc>
              <a:buNone/>
            </a:pPr>
            <a:r>
              <a:rPr lang="en-US" sz="1920" b="1" spc="-19" kern="0" dirty="0">
                <a:solidFill>
                  <a:srgbClr val="B47A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4,5</a:t>
            </a:r>
            <a:pPr algn="l" indent="0" marL="0">
              <a:lnSpc>
                <a:spcPts val="2020"/>
              </a:lnSpc>
              <a:buNone/>
            </a:pPr>
            <a:r>
              <a:rPr lang="en-US" sz="96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млрд</a:t>
            </a:r>
            <a:endParaRPr lang="en-US" sz="1920" dirty="0"/>
          </a:p>
        </p:txBody>
      </p:sp>
      <p:sp>
        <p:nvSpPr>
          <p:cNvPr id="22" name="Text 20"/>
          <p:cNvSpPr txBox="1"/>
          <p:nvPr/>
        </p:nvSpPr>
        <p:spPr>
          <a:xfrm>
            <a:off x="9547860" y="2984421"/>
            <a:ext cx="19659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остаток СМР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071360" y="3941445"/>
            <a:ext cx="44729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50" b="1" spc="75" kern="0" dirty="0">
                <a:solidFill>
                  <a:srgbClr val="C838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ПРОБЛЕМА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7071360" y="4117658"/>
            <a:ext cx="4472940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9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Сентябрь 2025 – март 2026: оплата не в полном объёме, подрядчик работал на свои средства. Замечания КЦМ ЖКХ по обеззараживанию (гипохлорит → УФ)</a:t>
            </a:r>
            <a:endParaRPr lang="en-US" sz="99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5429131"/>
            <a:ext cx="26889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b="1" spc="86" kern="0" dirty="0">
                <a:solidFill>
                  <a:srgbClr val="E3A2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НЕОБХОДИМО</a:t>
            </a:r>
            <a:endParaRPr lang="en-US" sz="72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5575340"/>
            <a:ext cx="273462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Погасить долг, завершить СМР до конца 2026 г.</a:t>
            </a:r>
            <a:endParaRPr lang="en-US" sz="930" dirty="0"/>
          </a:p>
        </p:txBody>
      </p:sp>
      <p:sp>
        <p:nvSpPr>
          <p:cNvPr id="27" name="Text 25"/>
          <p:cNvSpPr txBox="1"/>
          <p:nvPr/>
        </p:nvSpPr>
        <p:spPr>
          <a:xfrm>
            <a:off x="6888480" y="6016704"/>
            <a:ext cx="481584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90" b="1" spc="69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ГЕНПОДРЯДЧИК · ТЕХНАДЗОР · АВТОРСКИЙ НАДЗОР</a:t>
            </a:r>
            <a:endParaRPr lang="en-US" sz="690" dirty="0"/>
          </a:p>
        </p:txBody>
      </p:sp>
      <p:sp>
        <p:nvSpPr>
          <p:cNvPr id="28" name="Text 26"/>
          <p:cNvSpPr txBox="1"/>
          <p:nvPr/>
        </p:nvSpPr>
        <p:spPr>
          <a:xfrm>
            <a:off x="6888480" y="6142553"/>
            <a:ext cx="481584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84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АО «Павлодарский речной порт» · ТОО «АДС Сапа» · ТОО «Құрылысэкспертпроект»</a:t>
            </a:r>
            <a:endParaRPr lang="en-US" sz="84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6507480"/>
            <a:ext cx="102144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 ЖКХ и жилищной инспекции г. Атырау</a:t>
            </a:r>
            <a:endParaRPr lang="en-US" sz="780" dirty="0"/>
          </a:p>
        </p:txBody>
      </p:sp>
      <p:sp>
        <p:nvSpPr>
          <p:cNvPr id="30" name="Text 28"/>
          <p:cNvSpPr txBox="1"/>
          <p:nvPr/>
        </p:nvSpPr>
        <p:spPr>
          <a:xfrm>
            <a:off x="11372731" y="6507480"/>
            <a:ext cx="377309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22</a:t>
            </a:r>
            <a:endParaRPr lang="en-US" sz="8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4131707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spc="109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ОЧИСТНЫЕ СООРУЖЕНИЯ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563880"/>
            <a:ext cx="4451747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0"/>
              </a:lnSpc>
              <a:buNone/>
            </a:pPr>
            <a:r>
              <a:rPr lang="en-US" sz="2280" b="1" spc="-23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Пруд-испаритель «Квадрат»</a:t>
            </a:r>
            <a:endParaRPr lang="en-US" sz="2280" dirty="0"/>
          </a:p>
        </p:txBody>
      </p:sp>
      <p:sp>
        <p:nvSpPr>
          <p:cNvPr id="4" name="Text 2"/>
          <p:cNvSpPr txBox="1"/>
          <p:nvPr/>
        </p:nvSpPr>
        <p:spPr>
          <a:xfrm>
            <a:off x="7741920" y="547449"/>
            <a:ext cx="3962400" cy="35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99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Принимает очищенные сточные воды правобережных КОС после обеззараживания</a:t>
            </a:r>
            <a:endParaRPr lang="en-US" sz="990" dirty="0"/>
          </a:p>
        </p:txBody>
      </p:sp>
      <p:sp>
        <p:nvSpPr>
          <p:cNvPr id="5" name="Text 3"/>
          <p:cNvSpPr txBox="1"/>
          <p:nvPr/>
        </p:nvSpPr>
        <p:spPr>
          <a:xfrm>
            <a:off x="678180" y="1254919"/>
            <a:ext cx="232410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7,26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млрд тг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78180" y="1658779"/>
            <a:ext cx="23241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сумма договора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505200" y="1254919"/>
            <a:ext cx="232410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1E8F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4,3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млрд тг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505200" y="1658779"/>
            <a:ext cx="23241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освоено с 2022 года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78180" y="3454837"/>
            <a:ext cx="51511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50" b="1" spc="75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ВЫПОЛНЕННЫЕ РАБОТЫ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906780" y="3678674"/>
            <a:ext cx="492252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02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 1-й и 2-й технологических площадках размещены 102 геотубы</a:t>
            </a:r>
            <a:endParaRPr lang="en-US" sz="1020" dirty="0"/>
          </a:p>
        </p:txBody>
      </p:sp>
      <p:sp>
        <p:nvSpPr>
          <p:cNvPr id="11" name="Text 9"/>
          <p:cNvSpPr txBox="1"/>
          <p:nvPr/>
        </p:nvSpPr>
        <p:spPr>
          <a:xfrm>
            <a:off x="906780" y="3920966"/>
            <a:ext cx="492252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02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Установлена и подключена станция приготовления и дозирования флокулянта</a:t>
            </a:r>
            <a:endParaRPr lang="en-US" sz="1020" dirty="0"/>
          </a:p>
        </p:txBody>
      </p:sp>
      <p:sp>
        <p:nvSpPr>
          <p:cNvPr id="12" name="Text 10"/>
          <p:cNvSpPr txBox="1"/>
          <p:nvPr/>
        </p:nvSpPr>
        <p:spPr>
          <a:xfrm>
            <a:off x="906780" y="4163258"/>
            <a:ext cx="492252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02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Завершены земляные работы по подготовке основания на трёх участках технологической площадки</a:t>
            </a:r>
            <a:endParaRPr lang="en-US" sz="1020" dirty="0"/>
          </a:p>
        </p:txBody>
      </p:sp>
      <p:sp>
        <p:nvSpPr>
          <p:cNvPr id="13" name="Text 11"/>
          <p:cNvSpPr txBox="1"/>
          <p:nvPr/>
        </p:nvSpPr>
        <p:spPr>
          <a:xfrm>
            <a:off x="906780" y="4586883"/>
            <a:ext cx="492252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02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Смонтированы насосные станции перекачки осадка из отстойника-уплотнителя на участок биологического осадка</a:t>
            </a:r>
            <a:endParaRPr lang="en-US" sz="1020" dirty="0"/>
          </a:p>
        </p:txBody>
      </p:sp>
      <p:sp>
        <p:nvSpPr>
          <p:cNvPr id="14" name="Text 12"/>
          <p:cNvSpPr txBox="1"/>
          <p:nvPr/>
        </p:nvSpPr>
        <p:spPr>
          <a:xfrm>
            <a:off x="6362700" y="1277779"/>
            <a:ext cx="51511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50" b="1" spc="75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ОТКАЧКА ОСАДКА, М³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6607612" y="2735937"/>
            <a:ext cx="111025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92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54,2%</a:t>
            </a:r>
            <a:endParaRPr lang="en-US" sz="1920" dirty="0"/>
          </a:p>
        </p:txBody>
      </p:sp>
      <p:sp>
        <p:nvSpPr>
          <p:cNvPr id="16" name="Text 14"/>
          <p:cNvSpPr txBox="1"/>
          <p:nvPr/>
        </p:nvSpPr>
        <p:spPr>
          <a:xfrm>
            <a:off x="6607612" y="3040737"/>
            <a:ext cx="1110258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 1 723 375 м³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762607"/>
            <a:ext cx="314706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Выполнено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11016020" y="2774037"/>
            <a:ext cx="54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934 568</a:t>
            </a:r>
            <a:endParaRPr lang="en-US" sz="96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014067"/>
            <a:ext cx="314706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Осталось</a:t>
            </a:r>
            <a:endParaRPr lang="en-US" sz="960" dirty="0"/>
          </a:p>
        </p:txBody>
      </p:sp>
      <p:sp>
        <p:nvSpPr>
          <p:cNvPr id="20" name="Text 18"/>
          <p:cNvSpPr txBox="1"/>
          <p:nvPr/>
        </p:nvSpPr>
        <p:spPr>
          <a:xfrm>
            <a:off x="11006376" y="3025497"/>
            <a:ext cx="5531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788 807</a:t>
            </a:r>
            <a:endParaRPr lang="en-US" sz="96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4877038"/>
            <a:ext cx="51892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50" b="1" spc="75" kern="0" dirty="0">
                <a:solidFill>
                  <a:srgbClr val="C838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ПРОБЛЕМА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5053251"/>
            <a:ext cx="5189220" cy="35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9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Для завершения работ необходимо своевременное финансирование возобновления и продолжения СМР</a:t>
            </a:r>
            <a:endParaRPr lang="en-US" sz="990" dirty="0"/>
          </a:p>
        </p:txBody>
      </p:sp>
      <p:sp>
        <p:nvSpPr>
          <p:cNvPr id="23" name="Text 21"/>
          <p:cNvSpPr txBox="1"/>
          <p:nvPr/>
        </p:nvSpPr>
        <p:spPr>
          <a:xfrm>
            <a:off x="6370320" y="5825014"/>
            <a:ext cx="21732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b="1" spc="86" kern="0" dirty="0">
                <a:solidFill>
                  <a:srgbClr val="E3A2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НЕОБХОДИМО</a:t>
            </a:r>
            <a:endParaRPr lang="en-US" sz="720" dirty="0"/>
          </a:p>
        </p:txBody>
      </p:sp>
      <p:sp>
        <p:nvSpPr>
          <p:cNvPr id="24" name="Text 22"/>
          <p:cNvSpPr txBox="1"/>
          <p:nvPr/>
        </p:nvSpPr>
        <p:spPr>
          <a:xfrm>
            <a:off x="6370320" y="5971223"/>
            <a:ext cx="221896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Ускорить выделение средств, порядка</a:t>
            </a:r>
            <a:endParaRPr lang="en-US" sz="930" dirty="0"/>
          </a:p>
        </p:txBody>
      </p:sp>
      <p:sp>
        <p:nvSpPr>
          <p:cNvPr id="25" name="Text 23"/>
          <p:cNvSpPr txBox="1"/>
          <p:nvPr/>
        </p:nvSpPr>
        <p:spPr>
          <a:xfrm>
            <a:off x="10611326" y="5821680"/>
            <a:ext cx="9405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1,6</a:t>
            </a:r>
            <a:pPr algn="l" indent="0" marL="0">
              <a:lnSpc>
                <a:spcPts val="255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млрд тг</a:t>
            </a:r>
            <a:endParaRPr lang="en-US" sz="204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6507480"/>
            <a:ext cx="102405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 ЖКХ и жилищной инспекции г. Атырау</a:t>
            </a:r>
            <a:endParaRPr lang="en-US" sz="780" dirty="0"/>
          </a:p>
        </p:txBody>
      </p:sp>
      <p:sp>
        <p:nvSpPr>
          <p:cNvPr id="27" name="Text 25"/>
          <p:cNvSpPr txBox="1"/>
          <p:nvPr/>
        </p:nvSpPr>
        <p:spPr>
          <a:xfrm>
            <a:off x="11398806" y="6507480"/>
            <a:ext cx="35123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22</a:t>
            </a:r>
            <a:endParaRPr lang="en-US" sz="8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7023378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spc="109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ЭЛЕКТРОСНАБЖЕНИЕ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563880"/>
            <a:ext cx="7343418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0"/>
              </a:lnSpc>
              <a:buNone/>
            </a:pPr>
            <a:r>
              <a:rPr lang="en-US" sz="2280" b="1" spc="-23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Кабельные линии электроснабжения — 162 км</a:t>
            </a:r>
            <a:endParaRPr lang="en-US" sz="2280" dirty="0"/>
          </a:p>
        </p:txBody>
      </p:sp>
      <p:sp>
        <p:nvSpPr>
          <p:cNvPr id="4" name="Text 2"/>
          <p:cNvSpPr txBox="1"/>
          <p:nvPr/>
        </p:nvSpPr>
        <p:spPr>
          <a:xfrm>
            <a:off x="632460" y="1270159"/>
            <a:ext cx="1868329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90" b="1" spc="83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СУЩЕСТВУЮЩАЯ СЕТЬ</a:t>
            </a:r>
            <a:endParaRPr lang="en-US" sz="690" dirty="0"/>
          </a:p>
        </p:txBody>
      </p:sp>
      <p:sp>
        <p:nvSpPr>
          <p:cNvPr id="5" name="Text 3"/>
          <p:cNvSpPr txBox="1"/>
          <p:nvPr/>
        </p:nvSpPr>
        <p:spPr>
          <a:xfrm>
            <a:off x="632460" y="1414939"/>
            <a:ext cx="1868329" cy="32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3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Изношенные подземные высоковольтные линии</a:t>
            </a:r>
            <a:endParaRPr lang="en-US" sz="930" dirty="0"/>
          </a:p>
        </p:txBody>
      </p:sp>
      <p:sp>
        <p:nvSpPr>
          <p:cNvPr id="6" name="Text 4"/>
          <p:cNvSpPr txBox="1"/>
          <p:nvPr/>
        </p:nvSpPr>
        <p:spPr>
          <a:xfrm>
            <a:off x="2897029" y="1270159"/>
            <a:ext cx="1868448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90" b="1" spc="83" kern="0" dirty="0">
                <a:solidFill>
                  <a:srgbClr val="C838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ПРОБЛЕМА</a:t>
            </a:r>
            <a:endParaRPr lang="en-US" sz="690" dirty="0"/>
          </a:p>
        </p:txBody>
      </p:sp>
      <p:sp>
        <p:nvSpPr>
          <p:cNvPr id="7" name="Text 5"/>
          <p:cNvSpPr txBox="1"/>
          <p:nvPr/>
        </p:nvSpPr>
        <p:spPr>
          <a:xfrm>
            <a:off x="2897029" y="1414939"/>
            <a:ext cx="186844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3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Высокий износ и аварийность</a:t>
            </a:r>
            <a:endParaRPr lang="en-US" sz="930" dirty="0"/>
          </a:p>
        </p:txBody>
      </p:sp>
      <p:sp>
        <p:nvSpPr>
          <p:cNvPr id="8" name="Text 6"/>
          <p:cNvSpPr txBox="1"/>
          <p:nvPr/>
        </p:nvSpPr>
        <p:spPr>
          <a:xfrm>
            <a:off x="5161717" y="1270159"/>
            <a:ext cx="1868448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90" b="1" spc="83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ЗАМЕНА</a:t>
            </a:r>
            <a:endParaRPr lang="en-US" sz="690" dirty="0"/>
          </a:p>
        </p:txBody>
      </p:sp>
      <p:sp>
        <p:nvSpPr>
          <p:cNvPr id="9" name="Text 7"/>
          <p:cNvSpPr txBox="1"/>
          <p:nvPr/>
        </p:nvSpPr>
        <p:spPr>
          <a:xfrm>
            <a:off x="5161717" y="1414939"/>
            <a:ext cx="1868448" cy="32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3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162 км в городе и пригородных сёлах</a:t>
            </a:r>
            <a:endParaRPr lang="en-US" sz="930" dirty="0"/>
          </a:p>
        </p:txBody>
      </p:sp>
      <p:sp>
        <p:nvSpPr>
          <p:cNvPr id="10" name="Text 8"/>
          <p:cNvSpPr txBox="1"/>
          <p:nvPr/>
        </p:nvSpPr>
        <p:spPr>
          <a:xfrm>
            <a:off x="7426404" y="1270159"/>
            <a:ext cx="1868448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90" b="1" spc="83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НОВЫЙ КАБЕЛЬ</a:t>
            </a:r>
            <a:endParaRPr lang="en-US" sz="690" dirty="0"/>
          </a:p>
        </p:txBody>
      </p:sp>
      <p:sp>
        <p:nvSpPr>
          <p:cNvPr id="11" name="Text 9"/>
          <p:cNvSpPr txBox="1"/>
          <p:nvPr/>
        </p:nvSpPr>
        <p:spPr>
          <a:xfrm>
            <a:off x="7426404" y="1414939"/>
            <a:ext cx="1868448" cy="32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3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Изоляция из сшитого полиэтилена (СПЭ)</a:t>
            </a:r>
            <a:endParaRPr lang="en-US" sz="930" dirty="0"/>
          </a:p>
        </p:txBody>
      </p:sp>
      <p:sp>
        <p:nvSpPr>
          <p:cNvPr id="12" name="Text 10"/>
          <p:cNvSpPr txBox="1"/>
          <p:nvPr/>
        </p:nvSpPr>
        <p:spPr>
          <a:xfrm>
            <a:off x="9691092" y="1270159"/>
            <a:ext cx="1868448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90" b="1" spc="83" kern="0" dirty="0">
                <a:solidFill>
                  <a:srgbClr val="E3A2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РЕЗУЛЬТАТ</a:t>
            </a:r>
            <a:endParaRPr lang="en-US" sz="690" dirty="0"/>
          </a:p>
        </p:txBody>
      </p:sp>
      <p:sp>
        <p:nvSpPr>
          <p:cNvPr id="13" name="Text 11"/>
          <p:cNvSpPr txBox="1"/>
          <p:nvPr/>
        </p:nvSpPr>
        <p:spPr>
          <a:xfrm>
            <a:off x="9691092" y="1414939"/>
            <a:ext cx="1868448" cy="48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Бесперебойное электроснабжение, меньше аварий</a:t>
            </a:r>
            <a:endParaRPr lang="en-US" sz="93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6168747"/>
            <a:ext cx="193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Прокладка кабельной линии</a:t>
            </a:r>
            <a:endParaRPr lang="en-US" sz="810" dirty="0"/>
          </a:p>
        </p:txBody>
      </p:sp>
      <p:sp>
        <p:nvSpPr>
          <p:cNvPr id="15" name="Text 13"/>
          <p:cNvSpPr txBox="1"/>
          <p:nvPr/>
        </p:nvSpPr>
        <p:spPr>
          <a:xfrm>
            <a:off x="2979420" y="2335173"/>
            <a:ext cx="4000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50" b="1" spc="75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ПАСПОРТ ПРОЕКТА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2979420" y="2654260"/>
            <a:ext cx="895826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93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Заказчик</a:t>
            </a:r>
            <a:endParaRPr lang="en-US" sz="930" dirty="0"/>
          </a:p>
        </p:txBody>
      </p:sp>
      <p:sp>
        <p:nvSpPr>
          <p:cNvPr id="17" name="Text 15"/>
          <p:cNvSpPr txBox="1"/>
          <p:nvPr/>
        </p:nvSpPr>
        <p:spPr>
          <a:xfrm>
            <a:off x="4027646" y="2654260"/>
            <a:ext cx="295227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930" dirty="0">
                <a:solidFill>
                  <a:srgbClr val="0B254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ГУ «Отдел ЖКХ, ПТ и АД г. Атырау»</a:t>
            </a:r>
            <a:endParaRPr lang="en-US" sz="930" dirty="0"/>
          </a:p>
        </p:txBody>
      </p:sp>
      <p:sp>
        <p:nvSpPr>
          <p:cNvPr id="18" name="Text 16"/>
          <p:cNvSpPr txBox="1"/>
          <p:nvPr/>
        </p:nvSpPr>
        <p:spPr>
          <a:xfrm>
            <a:off x="2979420" y="2997160"/>
            <a:ext cx="941546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93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Проектировщик</a:t>
            </a:r>
            <a:endParaRPr lang="en-US" sz="930" dirty="0"/>
          </a:p>
        </p:txBody>
      </p:sp>
      <p:sp>
        <p:nvSpPr>
          <p:cNvPr id="19" name="Text 17"/>
          <p:cNvSpPr txBox="1"/>
          <p:nvPr/>
        </p:nvSpPr>
        <p:spPr>
          <a:xfrm>
            <a:off x="4027646" y="2997160"/>
            <a:ext cx="295227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930" dirty="0">
                <a:solidFill>
                  <a:srgbClr val="0B254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ТОО «Redline Pro»</a:t>
            </a:r>
            <a:endParaRPr lang="en-US" sz="930" dirty="0"/>
          </a:p>
        </p:txBody>
      </p:sp>
      <p:sp>
        <p:nvSpPr>
          <p:cNvPr id="20" name="Text 18"/>
          <p:cNvSpPr txBox="1"/>
          <p:nvPr/>
        </p:nvSpPr>
        <p:spPr>
          <a:xfrm>
            <a:off x="2979420" y="3340060"/>
            <a:ext cx="93380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93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Протяжённость</a:t>
            </a:r>
            <a:endParaRPr lang="en-US" sz="930" dirty="0"/>
          </a:p>
        </p:txBody>
      </p:sp>
      <p:sp>
        <p:nvSpPr>
          <p:cNvPr id="21" name="Text 19"/>
          <p:cNvSpPr txBox="1"/>
          <p:nvPr/>
        </p:nvSpPr>
        <p:spPr>
          <a:xfrm>
            <a:off x="4027646" y="3340060"/>
            <a:ext cx="295227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930" dirty="0">
                <a:solidFill>
                  <a:srgbClr val="0B254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162 км новых кабельных линий</a:t>
            </a:r>
            <a:endParaRPr lang="en-US" sz="930" dirty="0"/>
          </a:p>
        </p:txBody>
      </p:sp>
      <p:sp>
        <p:nvSpPr>
          <p:cNvPr id="22" name="Text 20"/>
          <p:cNvSpPr txBox="1"/>
          <p:nvPr/>
        </p:nvSpPr>
        <p:spPr>
          <a:xfrm>
            <a:off x="2979420" y="3682960"/>
            <a:ext cx="895826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93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Статус</a:t>
            </a:r>
            <a:endParaRPr lang="en-US" sz="930" dirty="0"/>
          </a:p>
        </p:txBody>
      </p:sp>
      <p:sp>
        <p:nvSpPr>
          <p:cNvPr id="23" name="Text 21"/>
          <p:cNvSpPr txBox="1"/>
          <p:nvPr/>
        </p:nvSpPr>
        <p:spPr>
          <a:xfrm>
            <a:off x="4111466" y="3713440"/>
            <a:ext cx="14939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dirty="0">
                <a:solidFill>
                  <a:srgbClr val="B47A0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государственная экспертиза</a:t>
            </a:r>
            <a:endParaRPr lang="en-US" sz="780" dirty="0"/>
          </a:p>
        </p:txBody>
      </p:sp>
      <p:sp>
        <p:nvSpPr>
          <p:cNvPr id="24" name="Text 22"/>
          <p:cNvSpPr txBox="1"/>
          <p:nvPr/>
        </p:nvSpPr>
        <p:spPr>
          <a:xfrm>
            <a:off x="2987040" y="5825014"/>
            <a:ext cx="20204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b="1" spc="86" kern="0" dirty="0">
                <a:solidFill>
                  <a:srgbClr val="E3A2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СТОИМОСТЬ (ПРЕДВАРИТЕЛЬНО)</a:t>
            </a:r>
            <a:endParaRPr lang="en-US" sz="720" dirty="0"/>
          </a:p>
        </p:txBody>
      </p:sp>
      <p:sp>
        <p:nvSpPr>
          <p:cNvPr id="25" name="Text 23"/>
          <p:cNvSpPr txBox="1"/>
          <p:nvPr/>
        </p:nvSpPr>
        <p:spPr>
          <a:xfrm>
            <a:off x="2987040" y="5971223"/>
            <a:ext cx="197477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уточняется по БИП</a:t>
            </a:r>
            <a:endParaRPr lang="en-US" sz="930" dirty="0"/>
          </a:p>
        </p:txBody>
      </p:sp>
      <p:sp>
        <p:nvSpPr>
          <p:cNvPr id="26" name="Text 24"/>
          <p:cNvSpPr txBox="1"/>
          <p:nvPr/>
        </p:nvSpPr>
        <p:spPr>
          <a:xfrm>
            <a:off x="5919907" y="5821680"/>
            <a:ext cx="10981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15,9</a:t>
            </a:r>
            <a:pPr algn="l" indent="0" marL="0">
              <a:lnSpc>
                <a:spcPts val="255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млрд тг</a:t>
            </a:r>
            <a:endParaRPr lang="en-US" sz="2040" dirty="0"/>
          </a:p>
        </p:txBody>
      </p:sp>
      <p:sp>
        <p:nvSpPr>
          <p:cNvPr id="27" name="Text 25"/>
          <p:cNvSpPr txBox="1"/>
          <p:nvPr/>
        </p:nvSpPr>
        <p:spPr>
          <a:xfrm>
            <a:off x="7505700" y="3134916"/>
            <a:ext cx="403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50" b="1" spc="75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РАЙОНЫ ОХВАТА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7505700" y="3311128"/>
            <a:ext cx="403860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90" b="1" dirty="0">
                <a:solidFill>
                  <a:srgbClr val="0B254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сельских округа:</a:t>
            </a:r>
            <a:endParaRPr lang="en-US" sz="990" dirty="0"/>
          </a:p>
        </p:txBody>
      </p:sp>
      <p:sp>
        <p:nvSpPr>
          <p:cNvPr id="29" name="Text 27"/>
          <p:cNvSpPr txBox="1"/>
          <p:nvPr/>
        </p:nvSpPr>
        <p:spPr>
          <a:xfrm>
            <a:off x="7505700" y="3493413"/>
            <a:ext cx="403860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9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Кайыршахты, Дамба, Атырау, Еркинкала.</a:t>
            </a:r>
            <a:endParaRPr lang="en-US" sz="990" dirty="0"/>
          </a:p>
        </p:txBody>
      </p:sp>
      <p:sp>
        <p:nvSpPr>
          <p:cNvPr id="30" name="Text 28"/>
          <p:cNvSpPr txBox="1"/>
          <p:nvPr/>
        </p:nvSpPr>
        <p:spPr>
          <a:xfrm>
            <a:off x="7505700" y="3675698"/>
            <a:ext cx="403860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90" b="1" dirty="0">
                <a:solidFill>
                  <a:srgbClr val="0B254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 микрорайонов:</a:t>
            </a:r>
            <a:endParaRPr lang="en-US" sz="990" dirty="0"/>
          </a:p>
        </p:txBody>
      </p:sp>
      <p:sp>
        <p:nvSpPr>
          <p:cNvPr id="31" name="Text 29"/>
          <p:cNvSpPr txBox="1"/>
          <p:nvPr/>
        </p:nvSpPr>
        <p:spPr>
          <a:xfrm>
            <a:off x="7505700" y="3857982"/>
            <a:ext cx="4038600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9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Береке, Алмагуль, Нурсая-3, Сарыкамыс-2, Оркен, Балауса, Жумыскер, Жумыскер-2, Жилгородок, Водник, Балыкшы; ул. Азаттык, канал Ерик Мостовой</a:t>
            </a:r>
            <a:endParaRPr lang="en-US" sz="990" dirty="0"/>
          </a:p>
        </p:txBody>
      </p:sp>
      <p:sp>
        <p:nvSpPr>
          <p:cNvPr id="32" name="Text 30"/>
          <p:cNvSpPr txBox="1"/>
          <p:nvPr/>
        </p:nvSpPr>
        <p:spPr>
          <a:xfrm>
            <a:off x="7505700" y="5623798"/>
            <a:ext cx="403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50" b="1" spc="75" kern="0" dirty="0">
                <a:solidFill>
                  <a:srgbClr val="1E8F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АЗАТТЫК, 63 · 65 · 67 · 67А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7505700" y="5800011"/>
            <a:ext cx="4038600" cy="35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9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Замена основной сети многоэтажных домов; ПСД готова, реализация — по мере выделения средств</a:t>
            </a:r>
            <a:endParaRPr lang="en-US" sz="99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6507480"/>
            <a:ext cx="1027116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 ЖКХ и жилищной инспекции г. Атырау</a:t>
            </a:r>
            <a:endParaRPr lang="en-US" sz="780" dirty="0"/>
          </a:p>
        </p:txBody>
      </p:sp>
      <p:sp>
        <p:nvSpPr>
          <p:cNvPr id="35" name="Text 33"/>
          <p:cNvSpPr txBox="1"/>
          <p:nvPr/>
        </p:nvSpPr>
        <p:spPr>
          <a:xfrm>
            <a:off x="11429405" y="6507480"/>
            <a:ext cx="32063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22</a:t>
            </a:r>
            <a:endParaRPr lang="en-US" sz="8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4283273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spc="109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ЭЛЕКТРОСНАБЖЕНИЕ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563880"/>
            <a:ext cx="4603313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0"/>
              </a:lnSpc>
              <a:buNone/>
            </a:pPr>
            <a:r>
              <a:rPr lang="en-US" sz="2280" b="1" spc="-23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Уличное освещение — 7 этап</a:t>
            </a:r>
            <a:endParaRPr lang="en-US" sz="2280" dirty="0"/>
          </a:p>
        </p:txBody>
      </p:sp>
      <p:sp>
        <p:nvSpPr>
          <p:cNvPr id="4" name="Text 2"/>
          <p:cNvSpPr txBox="1"/>
          <p:nvPr/>
        </p:nvSpPr>
        <p:spPr>
          <a:xfrm>
            <a:off x="7741920" y="547449"/>
            <a:ext cx="3962400" cy="35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99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ГЧП с АО «Батыс Транзит». После 7 этапа — ≈1 640 освещённых улиц (+22,4%)</a:t>
            </a:r>
            <a:endParaRPr lang="en-US" sz="990" dirty="0"/>
          </a:p>
        </p:txBody>
      </p:sp>
      <p:sp>
        <p:nvSpPr>
          <p:cNvPr id="5" name="Text 3"/>
          <p:cNvSpPr txBox="1"/>
          <p:nvPr/>
        </p:nvSpPr>
        <p:spPr>
          <a:xfrm>
            <a:off x="678180" y="1254919"/>
            <a:ext cx="23088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1E8F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1 340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улиц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78180" y="1658779"/>
            <a:ext cx="23088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освещено: I–VI этапы, 2017–2025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1254919"/>
            <a:ext cx="23088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≈300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улиц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658779"/>
            <a:ext cx="23088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этап (план) · ≈152 км освещения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362700" y="1254919"/>
            <a:ext cx="23088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15,6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млрд тг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362700" y="1658779"/>
            <a:ext cx="23088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стоимость 7 этапа, бюджетные средства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9204960" y="1254919"/>
            <a:ext cx="23088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1,3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млрд тг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9204960" y="1658779"/>
            <a:ext cx="23088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содержание и текущий ремонт I–III этапов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78180" y="2316004"/>
            <a:ext cx="62574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50" b="1" spc="75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ОСВЕЩЕНО УЛИЦ ПО ЭТАПАМ ГЧП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1008459" y="4926330"/>
            <a:ext cx="187523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77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84515" y="5617845"/>
            <a:ext cx="38981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endParaRPr lang="en-US" sz="810" dirty="0"/>
          </a:p>
        </p:txBody>
      </p:sp>
      <p:sp>
        <p:nvSpPr>
          <p:cNvPr id="16" name="Text 14"/>
          <p:cNvSpPr txBox="1"/>
          <p:nvPr/>
        </p:nvSpPr>
        <p:spPr>
          <a:xfrm>
            <a:off x="1894642" y="4120515"/>
            <a:ext cx="233482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218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781651" y="5617845"/>
            <a:ext cx="41386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</a:t>
            </a:r>
            <a:endParaRPr lang="en-US" sz="810" dirty="0"/>
          </a:p>
        </p:txBody>
      </p:sp>
      <p:sp>
        <p:nvSpPr>
          <p:cNvPr id="18" name="Text 16"/>
          <p:cNvSpPr txBox="1"/>
          <p:nvPr/>
        </p:nvSpPr>
        <p:spPr>
          <a:xfrm>
            <a:off x="2841546" y="5246370"/>
            <a:ext cx="157996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678787" y="5617845"/>
            <a:ext cx="437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III</a:t>
            </a:r>
            <a:endParaRPr lang="en-US" sz="810" dirty="0"/>
          </a:p>
        </p:txBody>
      </p:sp>
      <p:sp>
        <p:nvSpPr>
          <p:cNvPr id="20" name="Text 18"/>
          <p:cNvSpPr txBox="1"/>
          <p:nvPr/>
        </p:nvSpPr>
        <p:spPr>
          <a:xfrm>
            <a:off x="3709035" y="4291965"/>
            <a:ext cx="241459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188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580924" y="5617845"/>
            <a:ext cx="45196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</a:t>
            </a:r>
            <a:endParaRPr lang="en-US" sz="810" dirty="0"/>
          </a:p>
        </p:txBody>
      </p:sp>
      <p:sp>
        <p:nvSpPr>
          <p:cNvPr id="22" name="Text 20"/>
          <p:cNvSpPr txBox="1"/>
          <p:nvPr/>
        </p:nvSpPr>
        <p:spPr>
          <a:xfrm>
            <a:off x="4610695" y="3183255"/>
            <a:ext cx="256342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382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02110" y="5617845"/>
            <a:ext cx="42791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</a:t>
            </a:r>
            <a:endParaRPr lang="en-US" sz="810" dirty="0"/>
          </a:p>
        </p:txBody>
      </p:sp>
      <p:sp>
        <p:nvSpPr>
          <p:cNvPr id="24" name="Text 22"/>
          <p:cNvSpPr txBox="1"/>
          <p:nvPr/>
        </p:nvSpPr>
        <p:spPr>
          <a:xfrm>
            <a:off x="5512356" y="2771775"/>
            <a:ext cx="271343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454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399246" y="5617845"/>
            <a:ext cx="45196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</a:t>
            </a:r>
            <a:endParaRPr lang="en-US" sz="810" dirty="0"/>
          </a:p>
        </p:txBody>
      </p:sp>
      <p:sp>
        <p:nvSpPr>
          <p:cNvPr id="26" name="Text 24"/>
          <p:cNvSpPr txBox="1"/>
          <p:nvPr/>
        </p:nvSpPr>
        <p:spPr>
          <a:xfrm>
            <a:off x="6422946" y="3651885"/>
            <a:ext cx="268605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300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233636" y="5617845"/>
            <a:ext cx="601504" cy="265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VII</a:t>
            </a:r>
            <a:endParaRPr lang="en-US" sz="810" dirty="0"/>
          </a:p>
          <a:p>
            <a:pPr algn="ctr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план</a:t>
            </a:r>
            <a:endParaRPr lang="en-US" sz="81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974080"/>
            <a:ext cx="619363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Выполнено</a:t>
            </a:r>
            <a:endParaRPr lang="en-US" sz="840" dirty="0"/>
          </a:p>
        </p:txBody>
      </p:sp>
      <p:sp>
        <p:nvSpPr>
          <p:cNvPr id="29" name="Text 27"/>
          <p:cNvSpPr txBox="1"/>
          <p:nvPr/>
        </p:nvSpPr>
        <p:spPr>
          <a:xfrm>
            <a:off x="1678543" y="5974080"/>
            <a:ext cx="68830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План 7 этапа</a:t>
            </a:r>
            <a:endParaRPr lang="en-US" sz="840" dirty="0"/>
          </a:p>
        </p:txBody>
      </p:sp>
      <p:sp>
        <p:nvSpPr>
          <p:cNvPr id="30" name="Text 28"/>
          <p:cNvSpPr txBox="1"/>
          <p:nvPr/>
        </p:nvSpPr>
        <p:spPr>
          <a:xfrm>
            <a:off x="7461409" y="3564731"/>
            <a:ext cx="40827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50" b="1" spc="75" kern="0" dirty="0">
                <a:solidFill>
                  <a:srgbClr val="B47A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ВЛИЯНИЕ ТАРИФА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7461409" y="3748564"/>
            <a:ext cx="4082772" cy="38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08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 01.10.2026 тариф вырос с 71,00 до 114,07 тг/кВт·ч (+60,7%). Новые ≈300 улиц увеличат расходы на электроэнергию</a:t>
            </a:r>
            <a:endParaRPr lang="en-US" sz="1080" dirty="0"/>
          </a:p>
        </p:txBody>
      </p:sp>
      <p:sp>
        <p:nvSpPr>
          <p:cNvPr id="32" name="Text 30"/>
          <p:cNvSpPr txBox="1"/>
          <p:nvPr/>
        </p:nvSpPr>
        <p:spPr>
          <a:xfrm>
            <a:off x="7476649" y="5825014"/>
            <a:ext cx="13426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b="1" spc="86" kern="0" dirty="0">
                <a:solidFill>
                  <a:srgbClr val="E3A2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ТРЕБУЕТСЯ ВСЕГО</a:t>
            </a:r>
            <a:endParaRPr lang="en-US" sz="720" dirty="0"/>
          </a:p>
        </p:txBody>
      </p:sp>
      <p:sp>
        <p:nvSpPr>
          <p:cNvPr id="33" name="Text 31"/>
          <p:cNvSpPr txBox="1"/>
          <p:nvPr/>
        </p:nvSpPr>
        <p:spPr>
          <a:xfrm>
            <a:off x="7476649" y="5971223"/>
            <a:ext cx="138838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этап + содержание I–III</a:t>
            </a:r>
            <a:endParaRPr lang="en-US" sz="930" dirty="0"/>
          </a:p>
        </p:txBody>
      </p:sp>
      <p:sp>
        <p:nvSpPr>
          <p:cNvPr id="34" name="Text 32"/>
          <p:cNvSpPr txBox="1"/>
          <p:nvPr/>
        </p:nvSpPr>
        <p:spPr>
          <a:xfrm>
            <a:off x="10440114" y="5821680"/>
            <a:ext cx="11116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16,9</a:t>
            </a:r>
            <a:pPr algn="l" indent="0" marL="0">
              <a:lnSpc>
                <a:spcPts val="255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млрд тг</a:t>
            </a:r>
            <a:endParaRPr lang="en-US" sz="2040" dirty="0"/>
          </a:p>
        </p:txBody>
      </p:sp>
      <p:sp>
        <p:nvSpPr>
          <p:cNvPr id="35" name="Text 33"/>
          <p:cNvSpPr txBox="1"/>
          <p:nvPr/>
        </p:nvSpPr>
        <p:spPr>
          <a:xfrm>
            <a:off x="1051560" y="6507480"/>
            <a:ext cx="102500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 ЖКХ и жилищной инспекции г. Атырау</a:t>
            </a:r>
            <a:endParaRPr lang="en-US" sz="780" dirty="0"/>
          </a:p>
        </p:txBody>
      </p:sp>
      <p:sp>
        <p:nvSpPr>
          <p:cNvPr id="36" name="Text 34"/>
          <p:cNvSpPr txBox="1"/>
          <p:nvPr/>
        </p:nvSpPr>
        <p:spPr>
          <a:xfrm>
            <a:off x="11408331" y="6507480"/>
            <a:ext cx="341709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22</a:t>
            </a:r>
            <a:endParaRPr lang="en-US" sz="8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6550819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spc="109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ЭЛЕКТРОСНАБЖЕНИЕ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563880"/>
            <a:ext cx="6870859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0"/>
              </a:lnSpc>
              <a:buNone/>
            </a:pPr>
            <a:r>
              <a:rPr lang="en-US" sz="2280" b="1" spc="-23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Аварийные опоры линий электропередачи</a:t>
            </a:r>
            <a:endParaRPr lang="en-US" sz="2280" dirty="0"/>
          </a:p>
        </p:txBody>
      </p:sp>
      <p:sp>
        <p:nvSpPr>
          <p:cNvPr id="4" name="Text 2"/>
          <p:cNvSpPr txBox="1"/>
          <p:nvPr/>
        </p:nvSpPr>
        <p:spPr>
          <a:xfrm>
            <a:off x="7741920" y="547449"/>
            <a:ext cx="3962400" cy="35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99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Опоры в неудовлетворительном состоянии — угроза безопасности жителей</a:t>
            </a:r>
            <a:endParaRPr lang="en-US" sz="990" dirty="0"/>
          </a:p>
        </p:txBody>
      </p:sp>
      <p:sp>
        <p:nvSpPr>
          <p:cNvPr id="5" name="Text 3"/>
          <p:cNvSpPr txBox="1"/>
          <p:nvPr/>
        </p:nvSpPr>
        <p:spPr>
          <a:xfrm>
            <a:off x="678180" y="1254919"/>
            <a:ext cx="2925604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C838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2 700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78180" y="1658779"/>
            <a:ext cx="292560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аварийных опор выявлено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137184" y="1254919"/>
            <a:ext cx="2925604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B47A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2 414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137184" y="1658779"/>
            <a:ext cx="292560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осталось заменить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588568" y="1286470"/>
            <a:ext cx="39557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50" b="1" spc="75" kern="0" dirty="0">
                <a:solidFill>
                  <a:srgbClr val="C838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ПРИЧИНА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7588568" y="1462683"/>
            <a:ext cx="3955733" cy="35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9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Опоры ВЛ 0,4 кВ признаны аварийными; 2 100 опор на балансе отдела — в неудовлетворительном техническом состоянии</a:t>
            </a:r>
            <a:endParaRPr lang="en-US" sz="990" dirty="0"/>
          </a:p>
        </p:txBody>
      </p:sp>
      <p:sp>
        <p:nvSpPr>
          <p:cNvPr id="11" name="Text 9"/>
          <p:cNvSpPr txBox="1"/>
          <p:nvPr/>
        </p:nvSpPr>
        <p:spPr>
          <a:xfrm>
            <a:off x="678180" y="2316004"/>
            <a:ext cx="5151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40" b="1" spc="84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С.О. ЖАНАТАЛАП · ВЛ 0,4 КВ</a:t>
            </a:r>
            <a:endParaRPr lang="en-US" sz="840" dirty="0"/>
          </a:p>
        </p:txBody>
      </p:sp>
      <p:sp>
        <p:nvSpPr>
          <p:cNvPr id="12" name="Text 10"/>
          <p:cNvSpPr txBox="1"/>
          <p:nvPr/>
        </p:nvSpPr>
        <p:spPr>
          <a:xfrm>
            <a:off x="678180" y="2507218"/>
            <a:ext cx="515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30"/>
              </a:lnSpc>
              <a:buNone/>
            </a:pPr>
            <a:r>
              <a:rPr lang="en-US" sz="3840" b="1" spc="-38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600</a:t>
            </a:r>
            <a:pPr algn="l" indent="0" marL="0">
              <a:lnSpc>
                <a:spcPts val="4030"/>
              </a:lnSpc>
              <a:buNone/>
            </a:pPr>
            <a:r>
              <a:rPr lang="en-US" sz="192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опор</a:t>
            </a:r>
            <a:endParaRPr lang="en-US" sz="3840" dirty="0"/>
          </a:p>
        </p:txBody>
      </p:sp>
      <p:sp>
        <p:nvSpPr>
          <p:cNvPr id="13" name="Text 11"/>
          <p:cNvSpPr txBox="1"/>
          <p:nvPr/>
        </p:nvSpPr>
        <p:spPr>
          <a:xfrm>
            <a:off x="678180" y="4083010"/>
            <a:ext cx="142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Заменено 286 из 600</a:t>
            </a:r>
            <a:endParaRPr lang="en-US" sz="1080" dirty="0"/>
          </a:p>
        </p:txBody>
      </p:sp>
      <p:sp>
        <p:nvSpPr>
          <p:cNvPr id="14" name="Text 12"/>
          <p:cNvSpPr txBox="1"/>
          <p:nvPr/>
        </p:nvSpPr>
        <p:spPr>
          <a:xfrm>
            <a:off x="5332095" y="4067770"/>
            <a:ext cx="54292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2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47,7%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853440" y="5573673"/>
            <a:ext cx="1357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Выделено</a:t>
            </a:r>
            <a:endParaRPr lang="en-US" sz="810" dirty="0"/>
          </a:p>
        </p:txBody>
      </p:sp>
      <p:sp>
        <p:nvSpPr>
          <p:cNvPr id="16" name="Text 14"/>
          <p:cNvSpPr txBox="1"/>
          <p:nvPr/>
        </p:nvSpPr>
        <p:spPr>
          <a:xfrm>
            <a:off x="853440" y="5745480"/>
            <a:ext cx="135743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4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127,6</a:t>
            </a:r>
            <a:pPr algn="l" indent="0" marL="0">
              <a:lnSpc>
                <a:spcPts val="1200"/>
              </a:lnSpc>
              <a:buNone/>
            </a:pPr>
            <a:r>
              <a:rPr lang="en-US" sz="790" b="1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млн тг</a:t>
            </a:r>
            <a:endParaRPr lang="en-US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2553772" y="5573673"/>
            <a:ext cx="14075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Срок</a:t>
            </a:r>
            <a:endParaRPr lang="en-US" sz="810" dirty="0"/>
          </a:p>
        </p:txBody>
      </p:sp>
      <p:sp>
        <p:nvSpPr>
          <p:cNvPr id="18" name="Text 16"/>
          <p:cNvSpPr txBox="1"/>
          <p:nvPr/>
        </p:nvSpPr>
        <p:spPr>
          <a:xfrm>
            <a:off x="2553772" y="5745480"/>
            <a:ext cx="145327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4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 конца 2026</a:t>
            </a:r>
            <a:endParaRPr lang="en-US" sz="1440" dirty="0"/>
          </a:p>
        </p:txBody>
      </p:sp>
      <p:sp>
        <p:nvSpPr>
          <p:cNvPr id="19" name="Text 17"/>
          <p:cNvSpPr txBox="1"/>
          <p:nvPr/>
        </p:nvSpPr>
        <p:spPr>
          <a:xfrm>
            <a:off x="4304228" y="5573673"/>
            <a:ext cx="13498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Стоимость 1 опоры</a:t>
            </a:r>
            <a:endParaRPr lang="en-US" sz="810" dirty="0"/>
          </a:p>
        </p:txBody>
      </p:sp>
      <p:sp>
        <p:nvSpPr>
          <p:cNvPr id="20" name="Text 18"/>
          <p:cNvSpPr txBox="1"/>
          <p:nvPr/>
        </p:nvSpPr>
        <p:spPr>
          <a:xfrm>
            <a:off x="4304228" y="5768340"/>
            <a:ext cx="134981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4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≈212,7</a:t>
            </a:r>
            <a:pPr algn="l" indent="0" marL="0">
              <a:lnSpc>
                <a:spcPts val="1200"/>
              </a:lnSpc>
              <a:buNone/>
            </a:pPr>
            <a:r>
              <a:rPr lang="en-US" sz="790" b="1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тыс. тг</a:t>
            </a:r>
            <a:endParaRPr lang="en-US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362700" y="2316004"/>
            <a:ext cx="5151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40" b="1" spc="84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Г. АТЫРАУ И ПРИЛЕГАЮЩИЕ НАСЕЛЁННЫЕ ПУНКТЫ</a:t>
            </a:r>
            <a:endParaRPr lang="en-US" sz="840" dirty="0"/>
          </a:p>
        </p:txBody>
      </p:sp>
      <p:sp>
        <p:nvSpPr>
          <p:cNvPr id="22" name="Text 20"/>
          <p:cNvSpPr txBox="1"/>
          <p:nvPr/>
        </p:nvSpPr>
        <p:spPr>
          <a:xfrm>
            <a:off x="6362700" y="2507218"/>
            <a:ext cx="515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30"/>
              </a:lnSpc>
              <a:buNone/>
            </a:pPr>
            <a:r>
              <a:rPr lang="en-US" sz="3840" b="1" spc="-38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2 100</a:t>
            </a:r>
            <a:pPr algn="l" indent="0" marL="0">
              <a:lnSpc>
                <a:spcPts val="4030"/>
              </a:lnSpc>
              <a:buNone/>
            </a:pPr>
            <a:r>
              <a:rPr lang="en-US" sz="192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опор</a:t>
            </a:r>
            <a:endParaRPr lang="en-US" sz="3840" dirty="0"/>
          </a:p>
        </p:txBody>
      </p:sp>
      <p:sp>
        <p:nvSpPr>
          <p:cNvPr id="23" name="Text 21"/>
          <p:cNvSpPr txBox="1"/>
          <p:nvPr/>
        </p:nvSpPr>
        <p:spPr>
          <a:xfrm>
            <a:off x="6362700" y="4083010"/>
            <a:ext cx="12031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Замена не начата</a:t>
            </a:r>
            <a:endParaRPr lang="en-US" sz="1080" dirty="0"/>
          </a:p>
        </p:txBody>
      </p:sp>
      <p:sp>
        <p:nvSpPr>
          <p:cNvPr id="24" name="Text 22"/>
          <p:cNvSpPr txBox="1"/>
          <p:nvPr/>
        </p:nvSpPr>
        <p:spPr>
          <a:xfrm>
            <a:off x="11252954" y="4067770"/>
            <a:ext cx="30658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2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132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5573673"/>
            <a:ext cx="137660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Требуется</a:t>
            </a:r>
            <a:endParaRPr lang="en-US" sz="81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5745480"/>
            <a:ext cx="137660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4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554,4</a:t>
            </a:r>
            <a:pPr algn="l" indent="0" marL="0">
              <a:lnSpc>
                <a:spcPts val="1200"/>
              </a:lnSpc>
              <a:buNone/>
            </a:pPr>
            <a:r>
              <a:rPr lang="en-US" sz="790" b="1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млн тг</a:t>
            </a:r>
            <a:endParaRPr lang="en-US" sz="1440" dirty="0"/>
          </a:p>
        </p:txBody>
      </p:sp>
      <p:sp>
        <p:nvSpPr>
          <p:cNvPr id="27" name="Text 25"/>
          <p:cNvSpPr txBox="1"/>
          <p:nvPr/>
        </p:nvSpPr>
        <p:spPr>
          <a:xfrm>
            <a:off x="8257461" y="5573673"/>
            <a:ext cx="13691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Срок</a:t>
            </a:r>
            <a:endParaRPr lang="en-US" sz="810" dirty="0"/>
          </a:p>
        </p:txBody>
      </p:sp>
      <p:sp>
        <p:nvSpPr>
          <p:cNvPr id="28" name="Text 26"/>
          <p:cNvSpPr txBox="1"/>
          <p:nvPr/>
        </p:nvSpPr>
        <p:spPr>
          <a:xfrm>
            <a:off x="8257461" y="5745480"/>
            <a:ext cx="136910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4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2027 год</a:t>
            </a:r>
            <a:endParaRPr lang="en-US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9969460" y="5573673"/>
            <a:ext cx="13691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Стоимость 1 опоры</a:t>
            </a:r>
            <a:endParaRPr lang="en-US" sz="810" dirty="0"/>
          </a:p>
        </p:txBody>
      </p:sp>
      <p:sp>
        <p:nvSpPr>
          <p:cNvPr id="30" name="Text 28"/>
          <p:cNvSpPr txBox="1"/>
          <p:nvPr/>
        </p:nvSpPr>
        <p:spPr>
          <a:xfrm>
            <a:off x="9969460" y="5768340"/>
            <a:ext cx="136910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4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≈264,0</a:t>
            </a:r>
            <a:pPr algn="l" indent="0" marL="0">
              <a:lnSpc>
                <a:spcPts val="1200"/>
              </a:lnSpc>
              <a:buNone/>
            </a:pPr>
            <a:r>
              <a:rPr lang="en-US" sz="790" b="1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тыс. тг</a:t>
            </a:r>
            <a:endParaRPr lang="en-US" sz="144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6507480"/>
            <a:ext cx="1024985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 ЖКХ и жилищной инспекции г. Атырау</a:t>
            </a:r>
            <a:endParaRPr lang="en-US" sz="780" dirty="0"/>
          </a:p>
        </p:txBody>
      </p:sp>
      <p:sp>
        <p:nvSpPr>
          <p:cNvPr id="32" name="Text 30"/>
          <p:cNvSpPr txBox="1"/>
          <p:nvPr/>
        </p:nvSpPr>
        <p:spPr>
          <a:xfrm>
            <a:off x="11408093" y="6507480"/>
            <a:ext cx="3419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22</a:t>
            </a:r>
            <a:endParaRPr lang="en-US" sz="8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661416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spc="109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ЭЛЕКТРОСНАБЖЕНИЕ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563880"/>
            <a:ext cx="6888480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0"/>
              </a:lnSpc>
              <a:buNone/>
            </a:pPr>
            <a:r>
              <a:rPr lang="en-US" sz="2280" b="1" spc="-23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Тариф на электроэнергию и расходы бюджета</a:t>
            </a:r>
            <a:endParaRPr lang="en-US" sz="2280" dirty="0"/>
          </a:p>
        </p:txBody>
      </p:sp>
      <p:sp>
        <p:nvSpPr>
          <p:cNvPr id="4" name="Text 2"/>
          <p:cNvSpPr txBox="1"/>
          <p:nvPr/>
        </p:nvSpPr>
        <p:spPr>
          <a:xfrm>
            <a:off x="7741920" y="880348"/>
            <a:ext cx="3962400" cy="35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99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Объекты: уличное освещение, игровые и спортивные площадки, иные объекты на балансе акимата</a:t>
            </a:r>
            <a:endParaRPr lang="en-US" sz="990" dirty="0"/>
          </a:p>
        </p:txBody>
      </p:sp>
      <p:sp>
        <p:nvSpPr>
          <p:cNvPr id="5" name="Text 3"/>
          <p:cNvSpPr txBox="1"/>
          <p:nvPr/>
        </p:nvSpPr>
        <p:spPr>
          <a:xfrm>
            <a:off x="678180" y="1587818"/>
            <a:ext cx="1210032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71,00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78180" y="1991678"/>
            <a:ext cx="125575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тг/кВт·ч до 30.09.2026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802612" y="1587818"/>
            <a:ext cx="1555433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C838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114,07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802612" y="1991678"/>
            <a:ext cx="160115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тг/кВт·ч без НДС с 01.10.2026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795010" y="1587818"/>
            <a:ext cx="1140619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C838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+60,7%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840730" y="1991678"/>
            <a:ext cx="109489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+43,07 тг за кВт·ч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469029" y="1587818"/>
            <a:ext cx="4044672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C838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+769,7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млн тг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69029" y="1991678"/>
            <a:ext cx="40446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дополнительная нагрузка на бюджет в год; IV кв. 2026 — +192,4 млн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78180" y="2648903"/>
            <a:ext cx="62574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50" b="1" spc="75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РАСХОДЫ НА ЭЛЕКТРОЭНЕРГИЮ, МЛН ТГ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1531025" y="4431625"/>
            <a:ext cx="354568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825,5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377315" y="5617845"/>
            <a:ext cx="6162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b="1" dirty="0">
                <a:solidFill>
                  <a:srgbClr val="0B254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2025</a:t>
            </a:r>
            <a:endParaRPr lang="en-US" sz="810" dirty="0"/>
          </a:p>
        </p:txBody>
      </p:sp>
      <p:sp>
        <p:nvSpPr>
          <p:cNvPr id="16" name="Text 14"/>
          <p:cNvSpPr txBox="1"/>
          <p:nvPr/>
        </p:nvSpPr>
        <p:spPr>
          <a:xfrm>
            <a:off x="1377315" y="5746433"/>
            <a:ext cx="6162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факт</a:t>
            </a:r>
            <a:endParaRPr lang="en-US" sz="810" dirty="0"/>
          </a:p>
        </p:txBody>
      </p:sp>
      <p:sp>
        <p:nvSpPr>
          <p:cNvPr id="17" name="Text 15"/>
          <p:cNvSpPr txBox="1"/>
          <p:nvPr/>
        </p:nvSpPr>
        <p:spPr>
          <a:xfrm>
            <a:off x="3620810" y="3711773"/>
            <a:ext cx="41779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1 461,2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306247" y="5617845"/>
            <a:ext cx="100119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b="1" dirty="0">
                <a:solidFill>
                  <a:srgbClr val="0B254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2026</a:t>
            </a:r>
            <a:endParaRPr lang="en-US" sz="810" dirty="0"/>
          </a:p>
        </p:txBody>
      </p:sp>
      <p:sp>
        <p:nvSpPr>
          <p:cNvPr id="19" name="Text 17"/>
          <p:cNvSpPr txBox="1"/>
          <p:nvPr/>
        </p:nvSpPr>
        <p:spPr>
          <a:xfrm>
            <a:off x="3306247" y="5746433"/>
            <a:ext cx="100119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потребность</a:t>
            </a:r>
            <a:endParaRPr lang="en-US" sz="810" dirty="0"/>
          </a:p>
        </p:txBody>
      </p:sp>
      <p:sp>
        <p:nvSpPr>
          <p:cNvPr id="20" name="Text 18"/>
          <p:cNvSpPr txBox="1"/>
          <p:nvPr/>
        </p:nvSpPr>
        <p:spPr>
          <a:xfrm>
            <a:off x="5713690" y="3058120"/>
            <a:ext cx="47494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2 038,4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593437" y="5617845"/>
            <a:ext cx="66972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b="1" dirty="0">
                <a:solidFill>
                  <a:srgbClr val="0B254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2027+</a:t>
            </a:r>
            <a:endParaRPr lang="en-US" sz="810" dirty="0"/>
          </a:p>
        </p:txBody>
      </p:sp>
      <p:sp>
        <p:nvSpPr>
          <p:cNvPr id="22" name="Text 20"/>
          <p:cNvSpPr txBox="1"/>
          <p:nvPr/>
        </p:nvSpPr>
        <p:spPr>
          <a:xfrm>
            <a:off x="5593437" y="5746433"/>
            <a:ext cx="66972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 год</a:t>
            </a:r>
            <a:endParaRPr lang="en-US" sz="81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974080"/>
            <a:ext cx="811411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 тарифу 71 тг</a:t>
            </a:r>
            <a:endParaRPr lang="en-US" sz="840" dirty="0"/>
          </a:p>
        </p:txBody>
      </p:sp>
      <p:sp>
        <p:nvSpPr>
          <p:cNvPr id="24" name="Text 22"/>
          <p:cNvSpPr txBox="1"/>
          <p:nvPr/>
        </p:nvSpPr>
        <p:spPr>
          <a:xfrm>
            <a:off x="1870591" y="5974080"/>
            <a:ext cx="100715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 тарифу 114,07 тг</a:t>
            </a:r>
            <a:endParaRPr lang="en-US" sz="840" dirty="0"/>
          </a:p>
        </p:txBody>
      </p:sp>
      <p:sp>
        <p:nvSpPr>
          <p:cNvPr id="25" name="Text 23"/>
          <p:cNvSpPr txBox="1"/>
          <p:nvPr/>
        </p:nvSpPr>
        <p:spPr>
          <a:xfrm>
            <a:off x="7453789" y="2603183"/>
            <a:ext cx="186987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2025, факт</a:t>
            </a:r>
            <a:endParaRPr lang="en-US" sz="810" dirty="0"/>
          </a:p>
        </p:txBody>
      </p:sp>
      <p:sp>
        <p:nvSpPr>
          <p:cNvPr id="26" name="Text 24"/>
          <p:cNvSpPr txBox="1"/>
          <p:nvPr/>
        </p:nvSpPr>
        <p:spPr>
          <a:xfrm>
            <a:off x="7453789" y="2774990"/>
            <a:ext cx="1869877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56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825,5</a:t>
            </a:r>
            <a:pPr algn="l" indent="0" marL="0">
              <a:lnSpc>
                <a:spcPts val="1200"/>
              </a:lnSpc>
              <a:buNone/>
            </a:pPr>
            <a:r>
              <a:rPr lang="en-US" sz="860" b="1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млн</a:t>
            </a:r>
            <a:endParaRPr lang="en-US" sz="1560" dirty="0"/>
          </a:p>
        </p:txBody>
      </p:sp>
      <p:sp>
        <p:nvSpPr>
          <p:cNvPr id="27" name="Text 25"/>
          <p:cNvSpPr txBox="1"/>
          <p:nvPr/>
        </p:nvSpPr>
        <p:spPr>
          <a:xfrm>
            <a:off x="9666565" y="2603183"/>
            <a:ext cx="18623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1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мес. 2026, факт</a:t>
            </a:r>
            <a:endParaRPr lang="en-US" sz="810" dirty="0"/>
          </a:p>
        </p:txBody>
      </p:sp>
      <p:sp>
        <p:nvSpPr>
          <p:cNvPr id="28" name="Text 26"/>
          <p:cNvSpPr txBox="1"/>
          <p:nvPr/>
        </p:nvSpPr>
        <p:spPr>
          <a:xfrm>
            <a:off x="9666565" y="2774990"/>
            <a:ext cx="186237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56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951,6</a:t>
            </a:r>
            <a:pPr algn="l" indent="0" marL="0">
              <a:lnSpc>
                <a:spcPts val="1200"/>
              </a:lnSpc>
              <a:buNone/>
            </a:pPr>
            <a:r>
              <a:rPr lang="en-US" sz="860" b="1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млн</a:t>
            </a:r>
            <a:endParaRPr lang="en-US" sz="1560" dirty="0"/>
          </a:p>
        </p:txBody>
      </p:sp>
      <p:sp>
        <p:nvSpPr>
          <p:cNvPr id="29" name="Text 27"/>
          <p:cNvSpPr txBox="1"/>
          <p:nvPr/>
        </p:nvSpPr>
        <p:spPr>
          <a:xfrm>
            <a:off x="7461409" y="4125635"/>
            <a:ext cx="40827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50" b="1" spc="75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ПОТРЕБЛЕНИЕ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7461409" y="4309467"/>
            <a:ext cx="4082772" cy="38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08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≈17,87 млн кВт·ч в год. Потребность с 2027 года — в 2,47 раза выше факта 2025 года</a:t>
            </a:r>
            <a:endParaRPr lang="en-US" sz="1080" dirty="0"/>
          </a:p>
        </p:txBody>
      </p:sp>
      <p:sp>
        <p:nvSpPr>
          <p:cNvPr id="31" name="Text 29"/>
          <p:cNvSpPr txBox="1"/>
          <p:nvPr/>
        </p:nvSpPr>
        <p:spPr>
          <a:xfrm>
            <a:off x="7476649" y="5825014"/>
            <a:ext cx="23727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b="1" spc="86" kern="0" dirty="0">
                <a:solidFill>
                  <a:srgbClr val="E3A2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ТРЕБУЕТСЯ</a:t>
            </a:r>
            <a:endParaRPr lang="en-US" sz="720" dirty="0"/>
          </a:p>
        </p:txBody>
      </p:sp>
      <p:sp>
        <p:nvSpPr>
          <p:cNvPr id="32" name="Text 30"/>
          <p:cNvSpPr txBox="1"/>
          <p:nvPr/>
        </p:nvSpPr>
        <p:spPr>
          <a:xfrm>
            <a:off x="7476649" y="5971223"/>
            <a:ext cx="241851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 кв. 2026 — 509,6 млн; с 2027 г. ежегодно</a:t>
            </a:r>
            <a:endParaRPr lang="en-US" sz="930" dirty="0"/>
          </a:p>
        </p:txBody>
      </p:sp>
      <p:sp>
        <p:nvSpPr>
          <p:cNvPr id="33" name="Text 31"/>
          <p:cNvSpPr txBox="1"/>
          <p:nvPr/>
        </p:nvSpPr>
        <p:spPr>
          <a:xfrm>
            <a:off x="10224849" y="5821680"/>
            <a:ext cx="132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2 038,4</a:t>
            </a:r>
            <a:pPr algn="l" indent="0" marL="0">
              <a:lnSpc>
                <a:spcPts val="255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млн</a:t>
            </a:r>
            <a:endParaRPr lang="en-US" sz="204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6507480"/>
            <a:ext cx="1023949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 ЖКХ и жилищной инспекции г. Атырау</a:t>
            </a:r>
            <a:endParaRPr lang="en-US" sz="780" dirty="0"/>
          </a:p>
        </p:txBody>
      </p:sp>
      <p:sp>
        <p:nvSpPr>
          <p:cNvPr id="35" name="Text 33"/>
          <p:cNvSpPr txBox="1"/>
          <p:nvPr/>
        </p:nvSpPr>
        <p:spPr>
          <a:xfrm>
            <a:off x="11397734" y="6507480"/>
            <a:ext cx="35230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22</a:t>
            </a:r>
            <a:endParaRPr lang="en-US" sz="8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5964674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spc="109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ТЕПЛОСНАБЖЕНИЕ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563880"/>
            <a:ext cx="6284714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0"/>
              </a:lnSpc>
              <a:buNone/>
            </a:pPr>
            <a:r>
              <a:rPr lang="en-US" sz="2280" b="1" spc="-23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Сети теплоснабжения, ГВС и котельные</a:t>
            </a:r>
            <a:endParaRPr lang="en-US" sz="2280" dirty="0"/>
          </a:p>
        </p:txBody>
      </p:sp>
      <p:sp>
        <p:nvSpPr>
          <p:cNvPr id="4" name="Text 2"/>
          <p:cNvSpPr txBox="1"/>
          <p:nvPr/>
        </p:nvSpPr>
        <p:spPr>
          <a:xfrm>
            <a:off x="678180" y="1254919"/>
            <a:ext cx="23088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138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км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78180" y="1658779"/>
            <a:ext cx="23088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тепловых сетей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1254919"/>
            <a:ext cx="23088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B47A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16% → ≈11%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1658779"/>
            <a:ext cx="231350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износ сетей: 22 км → 15,1 км после замены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362700" y="1254919"/>
            <a:ext cx="23088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1E8F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6,9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км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362700" y="1658779"/>
            <a:ext cx="23088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замена ТС и ГВС, 3 лота, 354,4 млн тг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04960" y="1254919"/>
            <a:ext cx="23088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+ 38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9204960" y="1658779"/>
            <a:ext cx="23088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котельных КОЖДГ + резерв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70560" y="3041452"/>
            <a:ext cx="32943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50" b="1" spc="75" kern="0" dirty="0">
                <a:solidFill>
                  <a:srgbClr val="C838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ПРОБЛЕМА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3217664"/>
            <a:ext cx="3294340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9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Котельные и насосные ЖК «Самал Таун», «Family», «Абырой» изношены, не готовы к сезону. Долг КОЖДГ поставщикам — 76,4 млн тг</a:t>
            </a:r>
            <a:endParaRPr lang="en-US" sz="990" dirty="0"/>
          </a:p>
        </p:txBody>
      </p:sp>
      <p:sp>
        <p:nvSpPr>
          <p:cNvPr id="14" name="Text 12"/>
          <p:cNvSpPr txBox="1"/>
          <p:nvPr/>
        </p:nvSpPr>
        <p:spPr>
          <a:xfrm>
            <a:off x="4460200" y="3132653"/>
            <a:ext cx="32943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50" b="1" spc="75" kern="0" dirty="0">
                <a:solidFill>
                  <a:srgbClr val="1E8F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СДЕЛАНО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4460200" y="3308866"/>
            <a:ext cx="3294340" cy="35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9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ТОО «Industry 2050» меняет 6,9 км сетей: Алмагуль, Лесхоз, Нурсая, Авангард, Канцева, Амандосова и др.</a:t>
            </a:r>
            <a:endParaRPr lang="en-US" sz="990" dirty="0"/>
          </a:p>
        </p:txBody>
      </p:sp>
      <p:sp>
        <p:nvSpPr>
          <p:cNvPr id="16" name="Text 14"/>
          <p:cNvSpPr txBox="1"/>
          <p:nvPr/>
        </p:nvSpPr>
        <p:spPr>
          <a:xfrm>
            <a:off x="8249841" y="3041452"/>
            <a:ext cx="3294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50" b="1" spc="75" kern="0" dirty="0">
                <a:solidFill>
                  <a:srgbClr val="B47A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НЕОБХОДИМО · 435 МЛН ТГ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8249841" y="3217664"/>
            <a:ext cx="3294459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9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Котлы для ЖК — 388 млн, насосы — 47 млн; принять объекты на баланс; переразработать 37 ПСД термомодернизации</a:t>
            </a:r>
            <a:endParaRPr lang="en-US" sz="99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6073140"/>
            <a:ext cx="346448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Новые трубопроводы в изоляции</a:t>
            </a:r>
            <a:endParaRPr lang="en-US" sz="810" dirty="0"/>
          </a:p>
        </p:txBody>
      </p:sp>
      <p:sp>
        <p:nvSpPr>
          <p:cNvPr id="19" name="Text 17"/>
          <p:cNvSpPr txBox="1"/>
          <p:nvPr/>
        </p:nvSpPr>
        <p:spPr>
          <a:xfrm>
            <a:off x="4363641" y="6073140"/>
            <a:ext cx="3464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Прокладка сетей теплоснабжения и ГВС</a:t>
            </a:r>
            <a:endParaRPr lang="en-US" sz="810" dirty="0"/>
          </a:p>
        </p:txBody>
      </p:sp>
      <p:sp>
        <p:nvSpPr>
          <p:cNvPr id="20" name="Text 18"/>
          <p:cNvSpPr txBox="1"/>
          <p:nvPr/>
        </p:nvSpPr>
        <p:spPr>
          <a:xfrm>
            <a:off x="8133040" y="6073140"/>
            <a:ext cx="346448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Надземный участок обновлённой сети</a:t>
            </a:r>
            <a:endParaRPr lang="en-US" sz="81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6507480"/>
            <a:ext cx="102496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 ЖКХ и жилищной инспекции г. Атырау</a:t>
            </a:r>
            <a:endParaRPr lang="en-US" sz="780" dirty="0"/>
          </a:p>
        </p:txBody>
      </p:sp>
      <p:sp>
        <p:nvSpPr>
          <p:cNvPr id="22" name="Text 20"/>
          <p:cNvSpPr txBox="1"/>
          <p:nvPr/>
        </p:nvSpPr>
        <p:spPr>
          <a:xfrm>
            <a:off x="11407854" y="6507480"/>
            <a:ext cx="34218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22</a:t>
            </a:r>
            <a:endParaRPr lang="en-US" sz="8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6064687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spc="109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САНИТАРНОЕ СОДЕРЖАНИЕ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563880"/>
            <a:ext cx="6384727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0"/>
              </a:lnSpc>
              <a:buNone/>
            </a:pPr>
            <a:r>
              <a:rPr lang="en-US" sz="2280" b="1" spc="-23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ТБО, санитарная очистка и дезинсекция</a:t>
            </a:r>
            <a:endParaRPr lang="en-US" sz="2280" dirty="0"/>
          </a:p>
        </p:txBody>
      </p:sp>
      <p:sp>
        <p:nvSpPr>
          <p:cNvPr id="4" name="Text 2"/>
          <p:cNvSpPr txBox="1"/>
          <p:nvPr/>
        </p:nvSpPr>
        <p:spPr>
          <a:xfrm>
            <a:off x="7727752" y="547449"/>
            <a:ext cx="3976568" cy="35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99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45 000 га, 6 сельских округов. В 2026 г. задействованы 20 КАМАЗ, 5 погрузчиков, 420 работников</a:t>
            </a:r>
            <a:endParaRPr lang="en-US" sz="990" dirty="0"/>
          </a:p>
        </p:txBody>
      </p:sp>
      <p:sp>
        <p:nvSpPr>
          <p:cNvPr id="5" name="Text 3"/>
          <p:cNvSpPr txBox="1"/>
          <p:nvPr/>
        </p:nvSpPr>
        <p:spPr>
          <a:xfrm>
            <a:off x="678180" y="1339691"/>
            <a:ext cx="1386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0"/>
              </a:lnSpc>
              <a:buNone/>
            </a:pPr>
            <a:r>
              <a:rPr lang="en-US" sz="1920" b="1" spc="-19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1 000</a:t>
            </a:r>
            <a:endParaRPr lang="en-US" sz="1920" dirty="0"/>
          </a:p>
        </p:txBody>
      </p:sp>
      <p:sp>
        <p:nvSpPr>
          <p:cNvPr id="6" name="Text 4"/>
          <p:cNvSpPr txBox="1"/>
          <p:nvPr/>
        </p:nvSpPr>
        <p:spPr>
          <a:xfrm>
            <a:off x="678180" y="1671876"/>
            <a:ext cx="13868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контейнеров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567940" y="1339691"/>
            <a:ext cx="1386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0"/>
              </a:lnSpc>
              <a:buNone/>
            </a:pPr>
            <a:r>
              <a:rPr lang="en-US" sz="1920" b="1" spc="-19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≈100</a:t>
            </a:r>
            <a:endParaRPr lang="en-US" sz="1920" dirty="0"/>
          </a:p>
        </p:txBody>
      </p:sp>
      <p:sp>
        <p:nvSpPr>
          <p:cNvPr id="8" name="Text 6"/>
          <p:cNvSpPr txBox="1"/>
          <p:nvPr/>
        </p:nvSpPr>
        <p:spPr>
          <a:xfrm>
            <a:off x="2567940" y="1671876"/>
            <a:ext cx="13868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европлощадок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457700" y="1339691"/>
            <a:ext cx="1386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0"/>
              </a:lnSpc>
              <a:buNone/>
            </a:pPr>
            <a:r>
              <a:rPr lang="en-US" sz="1920" b="1" spc="-19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920" dirty="0"/>
          </a:p>
        </p:txBody>
      </p:sp>
      <p:sp>
        <p:nvSpPr>
          <p:cNvPr id="10" name="Text 8"/>
          <p:cNvSpPr txBox="1"/>
          <p:nvPr/>
        </p:nvSpPr>
        <p:spPr>
          <a:xfrm>
            <a:off x="4457700" y="1671876"/>
            <a:ext cx="13868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мусоровозов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347460" y="1339691"/>
            <a:ext cx="1386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0"/>
              </a:lnSpc>
              <a:buNone/>
            </a:pPr>
            <a:r>
              <a:rPr lang="en-US" sz="1920" b="1" spc="-19" kern="0" dirty="0">
                <a:solidFill>
                  <a:srgbClr val="1E8F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50+</a:t>
            </a:r>
            <a:endParaRPr lang="en-US" sz="1920" dirty="0"/>
          </a:p>
        </p:txBody>
      </p:sp>
      <p:sp>
        <p:nvSpPr>
          <p:cNvPr id="12" name="Text 10"/>
          <p:cNvSpPr txBox="1"/>
          <p:nvPr/>
        </p:nvSpPr>
        <p:spPr>
          <a:xfrm>
            <a:off x="6347460" y="1671876"/>
            <a:ext cx="13868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свалок ликвидировано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237220" y="1339691"/>
            <a:ext cx="1386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0"/>
              </a:lnSpc>
              <a:buNone/>
            </a:pPr>
            <a:r>
              <a:rPr lang="en-US" sz="1920" b="1" spc="-19" kern="0" dirty="0">
                <a:solidFill>
                  <a:srgbClr val="1E8F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≈3 000</a:t>
            </a:r>
            <a:endParaRPr lang="en-US" sz="1920" dirty="0"/>
          </a:p>
        </p:txBody>
      </p:sp>
      <p:sp>
        <p:nvSpPr>
          <p:cNvPr id="14" name="Text 12"/>
          <p:cNvSpPr txBox="1"/>
          <p:nvPr/>
        </p:nvSpPr>
        <p:spPr>
          <a:xfrm>
            <a:off x="8237220" y="1671876"/>
            <a:ext cx="13868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насаждений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126980" y="1262539"/>
            <a:ext cx="1386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0"/>
              </a:lnSpc>
              <a:buNone/>
            </a:pPr>
            <a:r>
              <a:rPr lang="en-US" sz="1920" b="1" spc="-19" kern="0" dirty="0">
                <a:solidFill>
                  <a:srgbClr val="1E8F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16+ т</a:t>
            </a:r>
            <a:endParaRPr lang="en-US" sz="1920" dirty="0"/>
          </a:p>
        </p:txBody>
      </p:sp>
      <p:sp>
        <p:nvSpPr>
          <p:cNvPr id="16" name="Text 14"/>
          <p:cNvSpPr txBox="1"/>
          <p:nvPr/>
        </p:nvSpPr>
        <p:spPr>
          <a:xfrm>
            <a:off x="10126980" y="1594723"/>
            <a:ext cx="138684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отходов вывезено на субботниках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" y="2406253"/>
            <a:ext cx="3256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40" b="1" spc="84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САНИТАРНАЯ ОЧИСТКА</a:t>
            </a:r>
            <a:endParaRPr lang="en-US" sz="840" dirty="0"/>
          </a:p>
        </p:txBody>
      </p:sp>
      <p:sp>
        <p:nvSpPr>
          <p:cNvPr id="18" name="Text 16"/>
          <p:cNvSpPr txBox="1"/>
          <p:nvPr/>
        </p:nvSpPr>
        <p:spPr>
          <a:xfrm>
            <a:off x="678180" y="2650808"/>
            <a:ext cx="327207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Для полного охвата территории не хватает техники и людей: нужно ещё 10 погрузчиков, 5 КДМ, 10 КАМАЗ и 100 работников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76300" y="5649754"/>
            <a:ext cx="7106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b="1" spc="86" kern="0" dirty="0">
                <a:solidFill>
                  <a:srgbClr val="E3A2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ТРЕБУЕТСЯ</a:t>
            </a:r>
            <a:endParaRPr lang="en-US" sz="720" dirty="0"/>
          </a:p>
        </p:txBody>
      </p:sp>
      <p:sp>
        <p:nvSpPr>
          <p:cNvPr id="20" name="Text 18"/>
          <p:cNvSpPr txBox="1"/>
          <p:nvPr/>
        </p:nvSpPr>
        <p:spPr>
          <a:xfrm>
            <a:off x="876300" y="5795963"/>
            <a:ext cx="66496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 НДС</a:t>
            </a:r>
            <a:endParaRPr lang="en-US" sz="930" dirty="0"/>
          </a:p>
        </p:txBody>
      </p:sp>
      <p:sp>
        <p:nvSpPr>
          <p:cNvPr id="21" name="Text 19"/>
          <p:cNvSpPr txBox="1"/>
          <p:nvPr/>
        </p:nvSpPr>
        <p:spPr>
          <a:xfrm>
            <a:off x="2759273" y="5646420"/>
            <a:ext cx="1022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4,6</a:t>
            </a:r>
            <a:pPr algn="l" indent="0" marL="0">
              <a:lnSpc>
                <a:spcPts val="255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млрд тг</a:t>
            </a:r>
            <a:endParaRPr lang="en-US" sz="2040" dirty="0"/>
          </a:p>
        </p:txBody>
      </p:sp>
      <p:sp>
        <p:nvSpPr>
          <p:cNvPr id="22" name="Text 20"/>
          <p:cNvSpPr txBox="1"/>
          <p:nvPr/>
        </p:nvSpPr>
        <p:spPr>
          <a:xfrm>
            <a:off x="4467820" y="2406253"/>
            <a:ext cx="3256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40" b="1" spc="84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ПОКОС ТРАВЫ</a:t>
            </a:r>
            <a:endParaRPr lang="en-US" sz="840" dirty="0"/>
          </a:p>
        </p:txBody>
      </p:sp>
      <p:sp>
        <p:nvSpPr>
          <p:cNvPr id="23" name="Text 21"/>
          <p:cNvSpPr txBox="1"/>
          <p:nvPr/>
        </p:nvSpPr>
        <p:spPr>
          <a:xfrm>
            <a:off x="4467820" y="2650808"/>
            <a:ext cx="32562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Низкие темпы покоса, неполный вывоз травы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665940" y="5649754"/>
            <a:ext cx="7106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b="1" spc="86" kern="0" dirty="0">
                <a:solidFill>
                  <a:srgbClr val="E3A2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ТРЕБУЕТСЯ</a:t>
            </a:r>
            <a:endParaRPr lang="en-US" sz="720" dirty="0"/>
          </a:p>
        </p:txBody>
      </p:sp>
      <p:sp>
        <p:nvSpPr>
          <p:cNvPr id="25" name="Text 23"/>
          <p:cNvSpPr txBox="1"/>
          <p:nvPr/>
        </p:nvSpPr>
        <p:spPr>
          <a:xfrm>
            <a:off x="4665940" y="5795963"/>
            <a:ext cx="68865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 2027 год</a:t>
            </a:r>
            <a:endParaRPr lang="en-US" sz="930" dirty="0"/>
          </a:p>
        </p:txBody>
      </p:sp>
      <p:sp>
        <p:nvSpPr>
          <p:cNvPr id="26" name="Text 24"/>
          <p:cNvSpPr txBox="1"/>
          <p:nvPr/>
        </p:nvSpPr>
        <p:spPr>
          <a:xfrm>
            <a:off x="6530816" y="5646420"/>
            <a:ext cx="10408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460</a:t>
            </a:r>
            <a:pPr algn="l" indent="0" marL="0">
              <a:lnSpc>
                <a:spcPts val="255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млн тг</a:t>
            </a:r>
            <a:endParaRPr lang="en-US" sz="2040" dirty="0"/>
          </a:p>
        </p:txBody>
      </p:sp>
      <p:sp>
        <p:nvSpPr>
          <p:cNvPr id="27" name="Text 25"/>
          <p:cNvSpPr txBox="1"/>
          <p:nvPr/>
        </p:nvSpPr>
        <p:spPr>
          <a:xfrm>
            <a:off x="8257461" y="2406253"/>
            <a:ext cx="3256359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40" b="1" spc="84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ОБРАБОТКА ОТ КОМАРОВ</a:t>
            </a:r>
            <a:endParaRPr lang="en-US" sz="840" dirty="0"/>
          </a:p>
        </p:txBody>
      </p:sp>
      <p:sp>
        <p:nvSpPr>
          <p:cNvPr id="28" name="Text 26"/>
          <p:cNvSpPr txBox="1"/>
          <p:nvPr/>
        </p:nvSpPr>
        <p:spPr>
          <a:xfrm>
            <a:off x="8257461" y="2650808"/>
            <a:ext cx="3256359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2026: договор с ТОО «AG Disinfection services» — 117,4 млн тг; охват неполный, закупки нужны до апреля. С 2027 г. — трёхлетний план с профильной организацией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455581" y="5649754"/>
            <a:ext cx="10453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b="1" spc="86" kern="0" dirty="0">
                <a:solidFill>
                  <a:srgbClr val="E3A2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ТРЕБУЕТСЯ</a:t>
            </a:r>
            <a:endParaRPr lang="en-US" sz="720" dirty="0"/>
          </a:p>
        </p:txBody>
      </p:sp>
      <p:sp>
        <p:nvSpPr>
          <p:cNvPr id="30" name="Text 28"/>
          <p:cNvSpPr txBox="1"/>
          <p:nvPr/>
        </p:nvSpPr>
        <p:spPr>
          <a:xfrm>
            <a:off x="8455581" y="5795963"/>
            <a:ext cx="109108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 млн × 2 берега</a:t>
            </a:r>
            <a:endParaRPr lang="en-US" sz="930" dirty="0"/>
          </a:p>
        </p:txBody>
      </p:sp>
      <p:sp>
        <p:nvSpPr>
          <p:cNvPr id="31" name="Text 29"/>
          <p:cNvSpPr txBox="1"/>
          <p:nvPr/>
        </p:nvSpPr>
        <p:spPr>
          <a:xfrm>
            <a:off x="10309622" y="5646420"/>
            <a:ext cx="10517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400</a:t>
            </a:r>
            <a:pPr algn="l" indent="0" marL="0">
              <a:lnSpc>
                <a:spcPts val="255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млн тг</a:t>
            </a:r>
            <a:endParaRPr lang="en-US" sz="204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6507480"/>
            <a:ext cx="102450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 ЖКХ и жилищной инспекции г. Атырау</a:t>
            </a:r>
            <a:endParaRPr lang="en-US" sz="780" dirty="0"/>
          </a:p>
        </p:txBody>
      </p:sp>
      <p:sp>
        <p:nvSpPr>
          <p:cNvPr id="33" name="Text 31"/>
          <p:cNvSpPr txBox="1"/>
          <p:nvPr/>
        </p:nvSpPr>
        <p:spPr>
          <a:xfrm>
            <a:off x="11403330" y="6507480"/>
            <a:ext cx="3467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22</a:t>
            </a:r>
            <a:endParaRPr lang="en-US" sz="8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6174938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spc="109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САНИТАРНОЕ СОДЕРЖАНИЕ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563880"/>
            <a:ext cx="6494978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0"/>
              </a:lnSpc>
              <a:buNone/>
            </a:pPr>
            <a:r>
              <a:rPr lang="en-US" sz="2280" b="1" spc="-23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Отлов и утилизация безнадзорных собак</a:t>
            </a:r>
            <a:endParaRPr lang="en-US" sz="2280" dirty="0"/>
          </a:p>
        </p:txBody>
      </p:sp>
      <p:sp>
        <p:nvSpPr>
          <p:cNvPr id="4" name="Text 2"/>
          <p:cNvSpPr txBox="1"/>
          <p:nvPr/>
        </p:nvSpPr>
        <p:spPr>
          <a:xfrm>
            <a:off x="678180" y="1247299"/>
            <a:ext cx="3256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0"/>
              </a:lnSpc>
              <a:buNone/>
            </a:pPr>
            <a:r>
              <a:rPr lang="en-US" sz="3120" b="1" spc="-31" kern="0" dirty="0">
                <a:solidFill>
                  <a:srgbClr val="1E8F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≈5 000</a:t>
            </a:r>
            <a:endParaRPr lang="en-US" sz="3120" dirty="0"/>
          </a:p>
        </p:txBody>
      </p:sp>
      <p:sp>
        <p:nvSpPr>
          <p:cNvPr id="5" name="Text 3"/>
          <p:cNvSpPr txBox="1"/>
          <p:nvPr/>
        </p:nvSpPr>
        <p:spPr>
          <a:xfrm>
            <a:off x="678180" y="1754743"/>
            <a:ext cx="3256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безнадзорных собак отловлено в 2026 году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467820" y="1247299"/>
            <a:ext cx="3256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0"/>
              </a:lnSpc>
              <a:buNone/>
            </a:pPr>
            <a:r>
              <a:rPr lang="en-US" sz="3120" b="1" spc="-31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pPr algn="l" indent="0" marL="0">
              <a:lnSpc>
                <a:spcPts val="3280"/>
              </a:lnSpc>
              <a:buNone/>
            </a:pPr>
            <a:r>
              <a:rPr lang="en-US" sz="156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конкурса</a:t>
            </a:r>
            <a:endParaRPr lang="en-US" sz="3120" dirty="0"/>
          </a:p>
        </p:txBody>
      </p:sp>
      <p:sp>
        <p:nvSpPr>
          <p:cNvPr id="7" name="Text 5"/>
          <p:cNvSpPr txBox="1"/>
          <p:nvPr/>
        </p:nvSpPr>
        <p:spPr>
          <a:xfrm>
            <a:off x="4467820" y="1754743"/>
            <a:ext cx="3256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проведено в 2026 году; 3-й — ожидается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57461" y="1247299"/>
            <a:ext cx="325635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0"/>
              </a:lnSpc>
              <a:buNone/>
            </a:pPr>
            <a:r>
              <a:rPr lang="en-US" sz="3120" b="1" spc="-31" kern="0" dirty="0">
                <a:solidFill>
                  <a:srgbClr val="C838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оплачен</a:t>
            </a:r>
            <a:endParaRPr lang="en-US" sz="3120" dirty="0"/>
          </a:p>
        </p:txBody>
      </p:sp>
      <p:sp>
        <p:nvSpPr>
          <p:cNvPr id="9" name="Text 7"/>
          <p:cNvSpPr txBox="1"/>
          <p:nvPr/>
        </p:nvSpPr>
        <p:spPr>
          <a:xfrm>
            <a:off x="8257461" y="1754743"/>
            <a:ext cx="325635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2-й договор за выполненный отлов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65703"/>
            <a:ext cx="50673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10" b="1" spc="81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ТЕКУЩАЯ СИСТЕМА</a:t>
            </a:r>
            <a:endParaRPr lang="en-US" sz="81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990969"/>
            <a:ext cx="5067300" cy="67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sz="126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Работы по госзакупкам. Конкурсы 1 и 2 — только отлов и умерщвление. Конкурс 3 — отлов и утилизация с использованием крематория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6416040" y="2765703"/>
            <a:ext cx="50673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10" b="1" spc="81" kern="0" dirty="0">
                <a:solidFill>
                  <a:srgbClr val="C838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ПРОБЛЕМА</a:t>
            </a:r>
            <a:endParaRPr lang="en-US" sz="810" dirty="0"/>
          </a:p>
        </p:txBody>
      </p:sp>
      <p:sp>
        <p:nvSpPr>
          <p:cNvPr id="13" name="Text 11"/>
          <p:cNvSpPr txBox="1"/>
          <p:nvPr/>
        </p:nvSpPr>
        <p:spPr>
          <a:xfrm>
            <a:off x="6416040" y="2990969"/>
            <a:ext cx="5067300" cy="67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sz="126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Финансирование недостаточно. Скотомогильник в неудовлетворительном состоянии. Осенью численность растёт — риск у жилых массивов, школ и детсадов</a:t>
            </a:r>
            <a:endParaRPr lang="en-US" sz="126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982766"/>
            <a:ext cx="50673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10" b="1" spc="81" kern="0" dirty="0">
                <a:solidFill>
                  <a:srgbClr val="1E8F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СДЕЛАНО</a:t>
            </a:r>
            <a:endParaRPr lang="en-US" sz="81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208032"/>
            <a:ext cx="506730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sz="126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Отловлено ≈5 000 собак. Подготовлен 3-й конкурс с организацией утилизации через крематорий</a:t>
            </a:r>
            <a:endParaRPr lang="en-US" sz="1260" dirty="0"/>
          </a:p>
        </p:txBody>
      </p:sp>
      <p:sp>
        <p:nvSpPr>
          <p:cNvPr id="16" name="Text 14"/>
          <p:cNvSpPr txBox="1"/>
          <p:nvPr/>
        </p:nvSpPr>
        <p:spPr>
          <a:xfrm>
            <a:off x="6416040" y="4866799"/>
            <a:ext cx="50673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10" b="1" spc="81" kern="0" dirty="0">
                <a:solidFill>
                  <a:srgbClr val="B47A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НЕОБХОДИМО</a:t>
            </a:r>
            <a:endParaRPr lang="en-US" sz="810" dirty="0"/>
          </a:p>
        </p:txBody>
      </p:sp>
      <p:sp>
        <p:nvSpPr>
          <p:cNvPr id="17" name="Text 15"/>
          <p:cNvSpPr txBox="1"/>
          <p:nvPr/>
        </p:nvSpPr>
        <p:spPr>
          <a:xfrm>
            <a:off x="6416040" y="5092065"/>
            <a:ext cx="5067300" cy="67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sz="126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Своевременные конкурсы; оплата 2-го договора; достаточное финансирование; капремонт скотомогильника или иной способ утилизации</a:t>
            </a:r>
            <a:endParaRPr lang="en-US" sz="126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6507480"/>
            <a:ext cx="102468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 ЖКХ и жилищной инспекции г. Атырау</a:t>
            </a:r>
            <a:endParaRPr lang="en-US" sz="780" dirty="0"/>
          </a:p>
        </p:txBody>
      </p:sp>
      <p:sp>
        <p:nvSpPr>
          <p:cNvPr id="19" name="Text 17"/>
          <p:cNvSpPr txBox="1"/>
          <p:nvPr/>
        </p:nvSpPr>
        <p:spPr>
          <a:xfrm>
            <a:off x="11405116" y="6507480"/>
            <a:ext cx="3449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22</a:t>
            </a:r>
            <a:endParaRPr lang="en-US" sz="8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8087201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spc="109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БЛАГОУСТРОЙСТВО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563880"/>
            <a:ext cx="8407241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0"/>
              </a:lnSpc>
              <a:buNone/>
            </a:pPr>
            <a:r>
              <a:rPr lang="en-US" sz="2280" b="1" spc="-23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Благоустройство дворовых территорий — 100 дворов</a:t>
            </a:r>
            <a:endParaRPr lang="en-US" sz="2280" dirty="0"/>
          </a:p>
        </p:txBody>
      </p:sp>
      <p:sp>
        <p:nvSpPr>
          <p:cNvPr id="4" name="Text 2"/>
          <p:cNvSpPr txBox="1"/>
          <p:nvPr/>
        </p:nvSpPr>
        <p:spPr>
          <a:xfrm>
            <a:off x="678180" y="1254919"/>
            <a:ext cx="325624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76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из 100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78180" y="1658779"/>
            <a:ext cx="3256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дворов в работе — 179 многоквартирных домов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467820" y="1254919"/>
            <a:ext cx="325624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1E8F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из 7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467820" y="1658779"/>
            <a:ext cx="3256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лотов завершены, оформляются акты приёмки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57461" y="1254919"/>
            <a:ext cx="3256359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C838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3,97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млрд тг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257461" y="1658779"/>
            <a:ext cx="325635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требуется для завершения проекта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532102"/>
            <a:ext cx="55751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50" b="1" spc="75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ИМЕЕМ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08315"/>
            <a:ext cx="5575102" cy="35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9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проектов, 7 договоров, СМР с марта 2023 г. Подрядчики: «Атырау Көлік» — 35 дворов, «Риголит» — 28, «SHEBERBUILD» — 13</a:t>
            </a:r>
            <a:endParaRPr lang="en-US" sz="990" dirty="0"/>
          </a:p>
        </p:txBody>
      </p:sp>
      <p:sp>
        <p:nvSpPr>
          <p:cNvPr id="12" name="Text 10"/>
          <p:cNvSpPr txBox="1"/>
          <p:nvPr/>
        </p:nvSpPr>
        <p:spPr>
          <a:xfrm>
            <a:off x="670560" y="3954661"/>
            <a:ext cx="55751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50" b="1" spc="75" kern="0" dirty="0">
                <a:solidFill>
                  <a:srgbClr val="C838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ПРОБЛЕМА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4130873"/>
            <a:ext cx="5575102" cy="35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9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Авангард и Лесхоз: СМР приостановлены — договор с «Атыраукөлік» не продлён. Алмагуль: договор истёк 31.12.2025, выполнено 70%</a:t>
            </a:r>
            <a:endParaRPr lang="en-US" sz="99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5286018"/>
            <a:ext cx="55751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50" b="1" spc="75" kern="0" dirty="0">
                <a:solidFill>
                  <a:srgbClr val="1E8F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СДЕЛАНО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5462230"/>
            <a:ext cx="5610701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9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лотов завершены. Авангард / Лесхоз: экспертиза № АКК-0002/26 от 04.04.2026, стоимость 3,2 млрд. Направлено письмо в Минфин РК и АО «ЦЭФ» о восстановлении договора с ТОО «Атырау көлік»</a:t>
            </a:r>
            <a:endParaRPr lang="en-US" sz="990" dirty="0"/>
          </a:p>
        </p:txBody>
      </p:sp>
      <p:sp>
        <p:nvSpPr>
          <p:cNvPr id="16" name="Text 14"/>
          <p:cNvSpPr txBox="1"/>
          <p:nvPr/>
        </p:nvSpPr>
        <p:spPr>
          <a:xfrm>
            <a:off x="6748582" y="2316004"/>
            <a:ext cx="47651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50" b="1" spc="75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ОСВОЕНИЕ СРЕДСТВ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6748582" y="2539841"/>
            <a:ext cx="159353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Освоено 6,83 из 10,8 млрд тг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27819" y="2539841"/>
            <a:ext cx="43160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102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63,2%</a:t>
            </a:r>
            <a:endParaRPr lang="en-US" sz="1020" dirty="0"/>
          </a:p>
        </p:txBody>
      </p:sp>
      <p:sp>
        <p:nvSpPr>
          <p:cNvPr id="19" name="Text 17"/>
          <p:cNvSpPr txBox="1"/>
          <p:nvPr/>
        </p:nvSpPr>
        <p:spPr>
          <a:xfrm>
            <a:off x="6748582" y="2905601"/>
            <a:ext cx="4765119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Стоимость договоров увеличена с 6,8 до 10,8 млрд тг после корректировки 6 из 7 проектов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6748582" y="4270772"/>
            <a:ext cx="47651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50" b="1" spc="75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РЕЗУЛЬТАТ ДЛЯ ЖИТЕЛЕЙ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6878122" y="4494609"/>
            <a:ext cx="2184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Проезды и тротуары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329261" y="4494609"/>
            <a:ext cx="2184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Парковки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878122" y="4730829"/>
            <a:ext cx="2184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Ограждения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329261" y="4730829"/>
            <a:ext cx="2184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Освещение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878122" y="4967049"/>
            <a:ext cx="2184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Детские площадки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9329261" y="4967049"/>
            <a:ext cx="2184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Спортивные площадки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878122" y="5203269"/>
            <a:ext cx="2184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Мини-футбол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329261" y="5203269"/>
            <a:ext cx="2184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Контейнерные площадки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6507480"/>
            <a:ext cx="102425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 ЖКХ и жилищной инспекции г. Атырау</a:t>
            </a:r>
            <a:endParaRPr lang="en-US" sz="780" dirty="0"/>
          </a:p>
        </p:txBody>
      </p:sp>
      <p:sp>
        <p:nvSpPr>
          <p:cNvPr id="30" name="Text 28"/>
          <p:cNvSpPr txBox="1"/>
          <p:nvPr/>
        </p:nvSpPr>
        <p:spPr>
          <a:xfrm>
            <a:off x="11400830" y="6507480"/>
            <a:ext cx="3492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22</a:t>
            </a:r>
            <a:endParaRPr lang="en-US" sz="8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661416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spc="109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БЛАГОУСТРОЙСТВО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563880"/>
            <a:ext cx="6888480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0"/>
              </a:lnSpc>
              <a:buNone/>
            </a:pPr>
            <a:r>
              <a:rPr lang="en-US" sz="2280" b="1" spc="-23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Благоустройство дворовых территорий — 150 дворов</a:t>
            </a:r>
            <a:endParaRPr lang="en-US" sz="2280" dirty="0"/>
          </a:p>
        </p:txBody>
      </p:sp>
      <p:sp>
        <p:nvSpPr>
          <p:cNvPr id="4" name="Text 2"/>
          <p:cNvSpPr txBox="1"/>
          <p:nvPr/>
        </p:nvSpPr>
        <p:spPr>
          <a:xfrm>
            <a:off x="7741920" y="880348"/>
            <a:ext cx="3962400" cy="35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99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Разработка ПСД начата; финансирование — бюджет. Виды работ — как в проекте «100 дворов»</a:t>
            </a:r>
            <a:endParaRPr lang="en-US" sz="990" dirty="0"/>
          </a:p>
        </p:txBody>
      </p:sp>
      <p:sp>
        <p:nvSpPr>
          <p:cNvPr id="5" name="Text 3"/>
          <p:cNvSpPr txBox="1"/>
          <p:nvPr/>
        </p:nvSpPr>
        <p:spPr>
          <a:xfrm>
            <a:off x="678180" y="1587818"/>
            <a:ext cx="2736652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1E8F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МЖД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78180" y="1991678"/>
            <a:ext cx="273665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ПСД с положительной экспертизой (лоты 2 и 3)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948232" y="1587818"/>
            <a:ext cx="2736652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24" kern="0" dirty="0">
                <a:solidFill>
                  <a:srgbClr val="C838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8,9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млрд тг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948232" y="1991678"/>
            <a:ext cx="273665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требуется на реализацию лотов 2 и 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210663" y="1602819"/>
            <a:ext cx="43336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50" b="1" spc="75" kern="0" dirty="0">
                <a:solidFill>
                  <a:srgbClr val="B47A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ПРЕДЛОЖЕНИЕ ОТДЕЛА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7210663" y="1786652"/>
            <a:ext cx="4333637" cy="38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08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единым проектом, а поэтапно: текущий ремонт и «Бюджет народного участия», с учётом готовых ПСД</a:t>
            </a:r>
            <a:endParaRPr lang="en-US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693420" y="2955250"/>
            <a:ext cx="52911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Лот 1</a:t>
            </a:r>
            <a:endParaRPr lang="en-US" sz="1440" dirty="0"/>
          </a:p>
        </p:txBody>
      </p:sp>
      <p:sp>
        <p:nvSpPr>
          <p:cNvPr id="12" name="Text 10"/>
          <p:cNvSpPr txBox="1"/>
          <p:nvPr/>
        </p:nvSpPr>
        <p:spPr>
          <a:xfrm>
            <a:off x="2972633" y="2997160"/>
            <a:ext cx="92880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dirty="0">
                <a:solidFill>
                  <a:srgbClr val="B47A0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ПСД в разработке</a:t>
            </a:r>
            <a:endParaRPr lang="en-US" sz="780" dirty="0"/>
          </a:p>
        </p:txBody>
      </p:sp>
      <p:sp>
        <p:nvSpPr>
          <p:cNvPr id="13" name="Text 11"/>
          <p:cNvSpPr txBox="1"/>
          <p:nvPr/>
        </p:nvSpPr>
        <p:spPr>
          <a:xfrm>
            <a:off x="693420" y="3237190"/>
            <a:ext cx="32461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ЛМ Транспроект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93420" y="3450550"/>
            <a:ext cx="3246120" cy="395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1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Авангард, Нұрсая, Владимирский, ул. Құрманғазы</a:t>
            </a:r>
            <a:endParaRPr lang="en-US" sz="1110" dirty="0"/>
          </a:p>
        </p:txBody>
      </p:sp>
      <p:sp>
        <p:nvSpPr>
          <p:cNvPr id="15" name="Text 13"/>
          <p:cNvSpPr txBox="1"/>
          <p:nvPr/>
        </p:nvSpPr>
        <p:spPr>
          <a:xfrm>
            <a:off x="4472940" y="2955250"/>
            <a:ext cx="56530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Лот 2</a:t>
            </a:r>
            <a:endParaRPr lang="en-US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6377345" y="2997160"/>
            <a:ext cx="130361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dirty="0">
                <a:solidFill>
                  <a:srgbClr val="1E8F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ЭО-0015/25 от 12.03.2025</a:t>
            </a:r>
            <a:endParaRPr lang="en-US" sz="780" dirty="0"/>
          </a:p>
        </p:txBody>
      </p:sp>
      <p:sp>
        <p:nvSpPr>
          <p:cNvPr id="17" name="Text 15"/>
          <p:cNvSpPr txBox="1"/>
          <p:nvPr/>
        </p:nvSpPr>
        <p:spPr>
          <a:xfrm>
            <a:off x="4472940" y="3237190"/>
            <a:ext cx="32461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Шымгорпроект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472940" y="3450550"/>
            <a:ext cx="3246120" cy="395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1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Нұрсая, СМП-136, СМП-163, Вокзал маңы, ул. Махамбет</a:t>
            </a:r>
            <a:endParaRPr lang="en-US" sz="1110" dirty="0"/>
          </a:p>
        </p:txBody>
      </p:sp>
      <p:sp>
        <p:nvSpPr>
          <p:cNvPr id="19" name="Text 17"/>
          <p:cNvSpPr txBox="1"/>
          <p:nvPr/>
        </p:nvSpPr>
        <p:spPr>
          <a:xfrm>
            <a:off x="8252460" y="3053834"/>
            <a:ext cx="56566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Лот 3</a:t>
            </a:r>
            <a:endParaRPr lang="en-US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10154722" y="3095744"/>
            <a:ext cx="130575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dirty="0">
                <a:solidFill>
                  <a:srgbClr val="1E8F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ЭО-0014/25 от 12.03.2025</a:t>
            </a:r>
            <a:endParaRPr lang="en-US" sz="780" dirty="0"/>
          </a:p>
        </p:txBody>
      </p:sp>
      <p:sp>
        <p:nvSpPr>
          <p:cNvPr id="21" name="Text 19"/>
          <p:cNvSpPr txBox="1"/>
          <p:nvPr/>
        </p:nvSpPr>
        <p:spPr>
          <a:xfrm>
            <a:off x="8252460" y="3335774"/>
            <a:ext cx="32461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Шымгорпроект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52460" y="3549134"/>
            <a:ext cx="3246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1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Авангард, Сәтбаев, Жилгородок, Балықшы</a:t>
            </a:r>
            <a:endParaRPr lang="en-US" sz="1110" dirty="0"/>
          </a:p>
        </p:txBody>
      </p:sp>
      <p:sp>
        <p:nvSpPr>
          <p:cNvPr id="23" name="Text 21"/>
          <p:cNvSpPr txBox="1"/>
          <p:nvPr/>
        </p:nvSpPr>
        <p:spPr>
          <a:xfrm>
            <a:off x="693420" y="5021223"/>
            <a:ext cx="58340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Лот 4</a:t>
            </a:r>
            <a:endParaRPr lang="en-US" sz="1440" dirty="0"/>
          </a:p>
        </p:txBody>
      </p:sp>
      <p:sp>
        <p:nvSpPr>
          <p:cNvPr id="24" name="Text 22"/>
          <p:cNvSpPr txBox="1"/>
          <p:nvPr/>
        </p:nvSpPr>
        <p:spPr>
          <a:xfrm>
            <a:off x="2972633" y="5063133"/>
            <a:ext cx="92880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dirty="0">
                <a:solidFill>
                  <a:srgbClr val="B47A0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ПСД в разработке</a:t>
            </a:r>
            <a:endParaRPr lang="en-US" sz="780" dirty="0"/>
          </a:p>
        </p:txBody>
      </p:sp>
      <p:sp>
        <p:nvSpPr>
          <p:cNvPr id="25" name="Text 23"/>
          <p:cNvSpPr txBox="1"/>
          <p:nvPr/>
        </p:nvSpPr>
        <p:spPr>
          <a:xfrm>
            <a:off x="693420" y="5303163"/>
            <a:ext cx="32461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Редлайн Про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93420" y="5516523"/>
            <a:ext cx="3246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1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Нұрсая, СМП-163, ул. С. Датова, пр. Азаттық</a:t>
            </a:r>
            <a:endParaRPr lang="en-US" sz="1110" dirty="0"/>
          </a:p>
        </p:txBody>
      </p:sp>
      <p:sp>
        <p:nvSpPr>
          <p:cNvPr id="27" name="Text 25"/>
          <p:cNvSpPr txBox="1"/>
          <p:nvPr/>
        </p:nvSpPr>
        <p:spPr>
          <a:xfrm>
            <a:off x="4472940" y="4922639"/>
            <a:ext cx="56626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Лот 5</a:t>
            </a:r>
            <a:endParaRPr lang="en-US" sz="1440" dirty="0"/>
          </a:p>
        </p:txBody>
      </p:sp>
      <p:sp>
        <p:nvSpPr>
          <p:cNvPr id="28" name="Text 26"/>
          <p:cNvSpPr txBox="1"/>
          <p:nvPr/>
        </p:nvSpPr>
        <p:spPr>
          <a:xfrm>
            <a:off x="6752153" y="4964549"/>
            <a:ext cx="92880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dirty="0">
                <a:solidFill>
                  <a:srgbClr val="B47A0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ПСД в разработке</a:t>
            </a:r>
            <a:endParaRPr lang="en-US" sz="780" dirty="0"/>
          </a:p>
        </p:txBody>
      </p:sp>
      <p:sp>
        <p:nvSpPr>
          <p:cNvPr id="29" name="Text 27"/>
          <p:cNvSpPr txBox="1"/>
          <p:nvPr/>
        </p:nvSpPr>
        <p:spPr>
          <a:xfrm>
            <a:off x="4472940" y="5204579"/>
            <a:ext cx="32461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ЛМ Транспроект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472940" y="5417939"/>
            <a:ext cx="3246120" cy="395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1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пр. Азаттық, Ескі аэропорт, Жеті қазына, ул. С. Датова, Гурьевский</a:t>
            </a:r>
            <a:endParaRPr lang="en-US" sz="1110" dirty="0"/>
          </a:p>
        </p:txBody>
      </p:sp>
      <p:sp>
        <p:nvSpPr>
          <p:cNvPr id="31" name="Text 29"/>
          <p:cNvSpPr txBox="1"/>
          <p:nvPr/>
        </p:nvSpPr>
        <p:spPr>
          <a:xfrm>
            <a:off x="8252460" y="5021223"/>
            <a:ext cx="57388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Лот 6</a:t>
            </a:r>
            <a:endParaRPr lang="en-US" sz="1440" dirty="0"/>
          </a:p>
        </p:txBody>
      </p:sp>
      <p:sp>
        <p:nvSpPr>
          <p:cNvPr id="32" name="Text 30"/>
          <p:cNvSpPr txBox="1"/>
          <p:nvPr/>
        </p:nvSpPr>
        <p:spPr>
          <a:xfrm>
            <a:off x="10531673" y="5063133"/>
            <a:ext cx="92880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dirty="0">
                <a:solidFill>
                  <a:srgbClr val="B47A0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ПСД в разработке</a:t>
            </a:r>
            <a:endParaRPr lang="en-US" sz="780" dirty="0"/>
          </a:p>
        </p:txBody>
      </p:sp>
      <p:sp>
        <p:nvSpPr>
          <p:cNvPr id="33" name="Text 31"/>
          <p:cNvSpPr txBox="1"/>
          <p:nvPr/>
        </p:nvSpPr>
        <p:spPr>
          <a:xfrm>
            <a:off x="8252460" y="5303163"/>
            <a:ext cx="32461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Редлайн Про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8252460" y="5516523"/>
            <a:ext cx="3246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1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Авангард, Сәтбаев, Нұрсая, Береке, Геолог</a:t>
            </a:r>
            <a:endParaRPr lang="en-US" sz="1110" dirty="0"/>
          </a:p>
        </p:txBody>
      </p:sp>
      <p:sp>
        <p:nvSpPr>
          <p:cNvPr id="35" name="Text 33"/>
          <p:cNvSpPr txBox="1"/>
          <p:nvPr/>
        </p:nvSpPr>
        <p:spPr>
          <a:xfrm>
            <a:off x="1051560" y="6507480"/>
            <a:ext cx="102450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 ЖКХ и жилищной инспекции г. Атырау</a:t>
            </a:r>
            <a:endParaRPr lang="en-US" sz="780" dirty="0"/>
          </a:p>
        </p:txBody>
      </p:sp>
      <p:sp>
        <p:nvSpPr>
          <p:cNvPr id="36" name="Text 34"/>
          <p:cNvSpPr txBox="1"/>
          <p:nvPr/>
        </p:nvSpPr>
        <p:spPr>
          <a:xfrm>
            <a:off x="11403330" y="6507480"/>
            <a:ext cx="3467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22</a:t>
            </a:r>
            <a:endParaRPr lang="en-US" sz="8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25146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spc="109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ФОТООТЧЁТ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563880"/>
            <a:ext cx="283464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0"/>
              </a:lnSpc>
              <a:buNone/>
            </a:pPr>
            <a:r>
              <a:rPr lang="en-US" sz="2280" b="1" spc="-23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Объекты в работе</a:t>
            </a:r>
            <a:endParaRPr lang="en-US" sz="228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556153"/>
            <a:ext cx="25222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Водоснабжение · схема участков капремонта</a:t>
            </a:r>
            <a:endParaRPr lang="en-US" sz="810" dirty="0"/>
          </a:p>
        </p:txBody>
      </p:sp>
      <p:sp>
        <p:nvSpPr>
          <p:cNvPr id="5" name="Text 3"/>
          <p:cNvSpPr txBox="1"/>
          <p:nvPr/>
        </p:nvSpPr>
        <p:spPr>
          <a:xfrm>
            <a:off x="3421380" y="2418993"/>
            <a:ext cx="2522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Водоснабжение · монтаж оборудования в колодце</a:t>
            </a:r>
            <a:endParaRPr lang="en-US" sz="810" dirty="0"/>
          </a:p>
        </p:txBody>
      </p:sp>
      <p:sp>
        <p:nvSpPr>
          <p:cNvPr id="6" name="Text 4"/>
          <p:cNvSpPr txBox="1"/>
          <p:nvPr/>
        </p:nvSpPr>
        <p:spPr>
          <a:xfrm>
            <a:off x="6248400" y="2556153"/>
            <a:ext cx="25222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Водоснабжение · новая запорная арматура</a:t>
            </a:r>
            <a:endParaRPr lang="en-US" sz="810" dirty="0"/>
          </a:p>
        </p:txBody>
      </p:sp>
      <p:sp>
        <p:nvSpPr>
          <p:cNvPr id="7" name="Text 5"/>
          <p:cNvSpPr txBox="1"/>
          <p:nvPr/>
        </p:nvSpPr>
        <p:spPr>
          <a:xfrm>
            <a:off x="9075420" y="2556153"/>
            <a:ext cx="25222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Водоотведение · работы по санации сети</a:t>
            </a:r>
            <a:endParaRPr lang="en-US" sz="81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4314587"/>
            <a:ext cx="25222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Водоотведение · монтаж колодца</a:t>
            </a:r>
            <a:endParaRPr lang="en-US" sz="810" dirty="0"/>
          </a:p>
        </p:txBody>
      </p:sp>
      <p:sp>
        <p:nvSpPr>
          <p:cNvPr id="9" name="Text 7"/>
          <p:cNvSpPr txBox="1"/>
          <p:nvPr/>
        </p:nvSpPr>
        <p:spPr>
          <a:xfrm>
            <a:off x="3421380" y="4314587"/>
            <a:ext cx="25222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Водоотведение · санация трубы изнутри</a:t>
            </a:r>
            <a:endParaRPr lang="en-US" sz="810" dirty="0"/>
          </a:p>
        </p:txBody>
      </p:sp>
      <p:sp>
        <p:nvSpPr>
          <p:cNvPr id="10" name="Text 8"/>
          <p:cNvSpPr txBox="1"/>
          <p:nvPr/>
        </p:nvSpPr>
        <p:spPr>
          <a:xfrm>
            <a:off x="6248400" y="4177427"/>
            <a:ext cx="2522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Канализационные сети в жилых массивах · 11 участков</a:t>
            </a:r>
            <a:endParaRPr lang="en-US" sz="810" dirty="0"/>
          </a:p>
        </p:txBody>
      </p:sp>
      <p:sp>
        <p:nvSpPr>
          <p:cNvPr id="11" name="Text 9"/>
          <p:cNvSpPr txBox="1"/>
          <p:nvPr/>
        </p:nvSpPr>
        <p:spPr>
          <a:xfrm>
            <a:off x="9075420" y="4314587"/>
            <a:ext cx="25222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Правобережные КОС · генеральный план</a:t>
            </a:r>
            <a:endParaRPr lang="en-US" sz="81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6073021"/>
            <a:ext cx="252638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Электроснабжение · прокладка кабельной линии</a:t>
            </a:r>
            <a:endParaRPr lang="en-US" sz="810" dirty="0"/>
          </a:p>
        </p:txBody>
      </p:sp>
      <p:sp>
        <p:nvSpPr>
          <p:cNvPr id="13" name="Text 11"/>
          <p:cNvSpPr txBox="1"/>
          <p:nvPr/>
        </p:nvSpPr>
        <p:spPr>
          <a:xfrm>
            <a:off x="3421380" y="6073021"/>
            <a:ext cx="25222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Теплоснабжение · новые трубопроводы</a:t>
            </a:r>
            <a:endParaRPr lang="en-US" sz="810" dirty="0"/>
          </a:p>
        </p:txBody>
      </p:sp>
      <p:sp>
        <p:nvSpPr>
          <p:cNvPr id="14" name="Text 12"/>
          <p:cNvSpPr txBox="1"/>
          <p:nvPr/>
        </p:nvSpPr>
        <p:spPr>
          <a:xfrm>
            <a:off x="6248400" y="6073021"/>
            <a:ext cx="25222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Теплоснабжение · прокладка сетей ГВС</a:t>
            </a:r>
            <a:endParaRPr lang="en-US" sz="810" dirty="0"/>
          </a:p>
        </p:txBody>
      </p:sp>
      <p:sp>
        <p:nvSpPr>
          <p:cNvPr id="15" name="Text 13"/>
          <p:cNvSpPr txBox="1"/>
          <p:nvPr/>
        </p:nvSpPr>
        <p:spPr>
          <a:xfrm>
            <a:off x="9075420" y="6073021"/>
            <a:ext cx="25222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1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Теплоснабжение · надземный участок сети</a:t>
            </a:r>
            <a:endParaRPr lang="en-US" sz="81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6507480"/>
            <a:ext cx="102194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 ЖКХ и жилищной инспекции г. Атырау</a:t>
            </a:r>
            <a:endParaRPr lang="en-US" sz="780" dirty="0"/>
          </a:p>
        </p:txBody>
      </p:sp>
      <p:sp>
        <p:nvSpPr>
          <p:cNvPr id="17" name="Text 15"/>
          <p:cNvSpPr txBox="1"/>
          <p:nvPr/>
        </p:nvSpPr>
        <p:spPr>
          <a:xfrm>
            <a:off x="11377732" y="6507480"/>
            <a:ext cx="3723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22</a:t>
            </a:r>
            <a:endParaRPr lang="en-US" sz="8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7143393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spc="109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ФИНАНСИРОВАНИЕ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563880"/>
            <a:ext cx="7417713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0"/>
              </a:lnSpc>
              <a:buNone/>
            </a:pPr>
            <a:r>
              <a:rPr lang="en-US" sz="2280" b="1" spc="-23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Потребность в финансировании по направлениям</a:t>
            </a:r>
            <a:endParaRPr lang="en-US" sz="2280" dirty="0"/>
          </a:p>
        </p:txBody>
      </p:sp>
      <p:sp>
        <p:nvSpPr>
          <p:cNvPr id="4" name="Text 2"/>
          <p:cNvSpPr txBox="1"/>
          <p:nvPr/>
        </p:nvSpPr>
        <p:spPr>
          <a:xfrm>
            <a:off x="8271153" y="880348"/>
            <a:ext cx="3433167" cy="35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99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Суммы относятся к разным периодам (2026, 2027, ежегодно)</a:t>
            </a:r>
            <a:endParaRPr lang="en-US" sz="990" dirty="0"/>
          </a:p>
        </p:txBody>
      </p:sp>
      <p:sp>
        <p:nvSpPr>
          <p:cNvPr id="5" name="Text 3"/>
          <p:cNvSpPr txBox="1"/>
          <p:nvPr/>
        </p:nvSpPr>
        <p:spPr>
          <a:xfrm>
            <a:off x="678180" y="1610678"/>
            <a:ext cx="6731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50" b="1" spc="75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ПОТРЕБНОСТЬ, МЛРД ТГ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678180" y="1832253"/>
            <a:ext cx="3048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93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Уличное освещение: 7 этап + содержание I–III</a:t>
            </a:r>
            <a:endParaRPr lang="en-US" sz="930" dirty="0"/>
          </a:p>
        </p:txBody>
      </p:sp>
      <p:sp>
        <p:nvSpPr>
          <p:cNvPr id="7" name="Text 5"/>
          <p:cNvSpPr txBox="1"/>
          <p:nvPr/>
        </p:nvSpPr>
        <p:spPr>
          <a:xfrm>
            <a:off x="7058620" y="1845945"/>
            <a:ext cx="274677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93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16,9</a:t>
            </a:r>
            <a:endParaRPr lang="en-US" sz="930" dirty="0"/>
          </a:p>
        </p:txBody>
      </p:sp>
      <p:sp>
        <p:nvSpPr>
          <p:cNvPr id="8" name="Text 6"/>
          <p:cNvSpPr txBox="1"/>
          <p:nvPr/>
        </p:nvSpPr>
        <p:spPr>
          <a:xfrm>
            <a:off x="678180" y="2175272"/>
            <a:ext cx="3048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93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Кабельные линии 162 км (предварительно)</a:t>
            </a:r>
            <a:endParaRPr lang="en-US" sz="930" dirty="0"/>
          </a:p>
        </p:txBody>
      </p:sp>
      <p:sp>
        <p:nvSpPr>
          <p:cNvPr id="9" name="Text 7"/>
          <p:cNvSpPr txBox="1"/>
          <p:nvPr/>
        </p:nvSpPr>
        <p:spPr>
          <a:xfrm>
            <a:off x="6873121" y="2188964"/>
            <a:ext cx="268486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93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15,9</a:t>
            </a:r>
            <a:endParaRPr lang="en-US" sz="930" dirty="0"/>
          </a:p>
        </p:txBody>
      </p:sp>
      <p:sp>
        <p:nvSpPr>
          <p:cNvPr id="10" name="Text 8"/>
          <p:cNvSpPr txBox="1"/>
          <p:nvPr/>
        </p:nvSpPr>
        <p:spPr>
          <a:xfrm>
            <a:off x="678180" y="2518291"/>
            <a:ext cx="3048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93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Благоустройство 150 дворов (лоты 2–3)</a:t>
            </a:r>
            <a:endParaRPr lang="en-US" sz="930" dirty="0"/>
          </a:p>
        </p:txBody>
      </p:sp>
      <p:sp>
        <p:nvSpPr>
          <p:cNvPr id="11" name="Text 9"/>
          <p:cNvSpPr txBox="1"/>
          <p:nvPr/>
        </p:nvSpPr>
        <p:spPr>
          <a:xfrm>
            <a:off x="5574863" y="2531983"/>
            <a:ext cx="23110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93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8,9</a:t>
            </a:r>
            <a:endParaRPr lang="en-US" sz="930" dirty="0"/>
          </a:p>
        </p:txBody>
      </p:sp>
      <p:sp>
        <p:nvSpPr>
          <p:cNvPr id="12" name="Text 10"/>
          <p:cNvSpPr txBox="1"/>
          <p:nvPr/>
        </p:nvSpPr>
        <p:spPr>
          <a:xfrm>
            <a:off x="678180" y="2861310"/>
            <a:ext cx="3048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93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Санитарная очистка (с НДС)</a:t>
            </a:r>
            <a:endParaRPr lang="en-US" sz="930" dirty="0"/>
          </a:p>
        </p:txBody>
      </p:sp>
      <p:sp>
        <p:nvSpPr>
          <p:cNvPr id="13" name="Text 11"/>
          <p:cNvSpPr txBox="1"/>
          <p:nvPr/>
        </p:nvSpPr>
        <p:spPr>
          <a:xfrm>
            <a:off x="4777383" y="2875002"/>
            <a:ext cx="234196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93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4,6</a:t>
            </a:r>
            <a:endParaRPr lang="en-US" sz="930" dirty="0"/>
          </a:p>
        </p:txBody>
      </p:sp>
      <p:sp>
        <p:nvSpPr>
          <p:cNvPr id="14" name="Text 12"/>
          <p:cNvSpPr txBox="1"/>
          <p:nvPr/>
        </p:nvSpPr>
        <p:spPr>
          <a:xfrm>
            <a:off x="678180" y="3204329"/>
            <a:ext cx="3048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93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Правобережные КОС — остаток СМР</a:t>
            </a:r>
            <a:endParaRPr lang="en-US" sz="930" dirty="0"/>
          </a:p>
        </p:txBody>
      </p:sp>
      <p:sp>
        <p:nvSpPr>
          <p:cNvPr id="15" name="Text 13"/>
          <p:cNvSpPr txBox="1"/>
          <p:nvPr/>
        </p:nvSpPr>
        <p:spPr>
          <a:xfrm>
            <a:off x="4758809" y="3218021"/>
            <a:ext cx="230743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93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4,5</a:t>
            </a:r>
            <a:endParaRPr lang="en-US" sz="930" dirty="0"/>
          </a:p>
        </p:txBody>
      </p:sp>
      <p:sp>
        <p:nvSpPr>
          <p:cNvPr id="16" name="Text 14"/>
          <p:cNvSpPr txBox="1"/>
          <p:nvPr/>
        </p:nvSpPr>
        <p:spPr>
          <a:xfrm>
            <a:off x="678180" y="3547348"/>
            <a:ext cx="3048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93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Благоустройство 100 дворов</a:t>
            </a:r>
            <a:endParaRPr lang="en-US" sz="930" dirty="0"/>
          </a:p>
        </p:txBody>
      </p:sp>
      <p:sp>
        <p:nvSpPr>
          <p:cNvPr id="17" name="Text 15"/>
          <p:cNvSpPr txBox="1"/>
          <p:nvPr/>
        </p:nvSpPr>
        <p:spPr>
          <a:xfrm>
            <a:off x="4660583" y="3561040"/>
            <a:ext cx="29468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93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3,97</a:t>
            </a:r>
            <a:endParaRPr lang="en-US" sz="930" dirty="0"/>
          </a:p>
        </p:txBody>
      </p:sp>
      <p:sp>
        <p:nvSpPr>
          <p:cNvPr id="18" name="Text 16"/>
          <p:cNvSpPr txBox="1"/>
          <p:nvPr/>
        </p:nvSpPr>
        <p:spPr>
          <a:xfrm>
            <a:off x="678180" y="3890367"/>
            <a:ext cx="3048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93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Водопровод, 1–3 этапы (2026)</a:t>
            </a:r>
            <a:endParaRPr lang="en-US" sz="930" dirty="0"/>
          </a:p>
        </p:txBody>
      </p:sp>
      <p:sp>
        <p:nvSpPr>
          <p:cNvPr id="19" name="Text 17"/>
          <p:cNvSpPr txBox="1"/>
          <p:nvPr/>
        </p:nvSpPr>
        <p:spPr>
          <a:xfrm>
            <a:off x="4499134" y="3904059"/>
            <a:ext cx="190976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93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3,1</a:t>
            </a:r>
            <a:endParaRPr lang="en-US" sz="930" dirty="0"/>
          </a:p>
        </p:txBody>
      </p:sp>
      <p:sp>
        <p:nvSpPr>
          <p:cNvPr id="20" name="Text 18"/>
          <p:cNvSpPr txBox="1"/>
          <p:nvPr/>
        </p:nvSpPr>
        <p:spPr>
          <a:xfrm>
            <a:off x="678180" y="4233386"/>
            <a:ext cx="3048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93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Электроэнергия по новому тарифу (в год, 2027+)</a:t>
            </a:r>
            <a:endParaRPr lang="en-US" sz="930" dirty="0"/>
          </a:p>
        </p:txBody>
      </p:sp>
      <p:sp>
        <p:nvSpPr>
          <p:cNvPr id="21" name="Text 19"/>
          <p:cNvSpPr txBox="1"/>
          <p:nvPr/>
        </p:nvSpPr>
        <p:spPr>
          <a:xfrm>
            <a:off x="4302562" y="4247078"/>
            <a:ext cx="307658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93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2,04</a:t>
            </a:r>
            <a:endParaRPr lang="en-US" sz="930" dirty="0"/>
          </a:p>
        </p:txBody>
      </p:sp>
      <p:sp>
        <p:nvSpPr>
          <p:cNvPr id="22" name="Text 20"/>
          <p:cNvSpPr txBox="1"/>
          <p:nvPr/>
        </p:nvSpPr>
        <p:spPr>
          <a:xfrm>
            <a:off x="678180" y="4576405"/>
            <a:ext cx="3048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93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Пруд-испаритель «Квадрат»</a:t>
            </a:r>
            <a:endParaRPr lang="en-US" sz="930" dirty="0"/>
          </a:p>
        </p:txBody>
      </p:sp>
      <p:sp>
        <p:nvSpPr>
          <p:cNvPr id="23" name="Text 21"/>
          <p:cNvSpPr txBox="1"/>
          <p:nvPr/>
        </p:nvSpPr>
        <p:spPr>
          <a:xfrm>
            <a:off x="4221004" y="4590098"/>
            <a:ext cx="196691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93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1,6</a:t>
            </a:r>
            <a:endParaRPr lang="en-US" sz="930" dirty="0"/>
          </a:p>
        </p:txBody>
      </p:sp>
      <p:sp>
        <p:nvSpPr>
          <p:cNvPr id="24" name="Text 22"/>
          <p:cNvSpPr txBox="1"/>
          <p:nvPr/>
        </p:nvSpPr>
        <p:spPr>
          <a:xfrm>
            <a:off x="678180" y="4919424"/>
            <a:ext cx="3048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93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Аварийные опоры ЛЭП (2027)</a:t>
            </a:r>
            <a:endParaRPr lang="en-US" sz="930" dirty="0"/>
          </a:p>
        </p:txBody>
      </p:sp>
      <p:sp>
        <p:nvSpPr>
          <p:cNvPr id="25" name="Text 23"/>
          <p:cNvSpPr txBox="1"/>
          <p:nvPr/>
        </p:nvSpPr>
        <p:spPr>
          <a:xfrm>
            <a:off x="4026218" y="4933117"/>
            <a:ext cx="295275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93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0,55</a:t>
            </a:r>
            <a:endParaRPr lang="en-US" sz="930" dirty="0"/>
          </a:p>
        </p:txBody>
      </p:sp>
      <p:sp>
        <p:nvSpPr>
          <p:cNvPr id="26" name="Text 24"/>
          <p:cNvSpPr txBox="1"/>
          <p:nvPr/>
        </p:nvSpPr>
        <p:spPr>
          <a:xfrm>
            <a:off x="678180" y="5262443"/>
            <a:ext cx="3048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93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Покос травы (2027)</a:t>
            </a:r>
            <a:endParaRPr lang="en-US" sz="930" dirty="0"/>
          </a:p>
        </p:txBody>
      </p:sp>
      <p:sp>
        <p:nvSpPr>
          <p:cNvPr id="27" name="Text 25"/>
          <p:cNvSpPr txBox="1"/>
          <p:nvPr/>
        </p:nvSpPr>
        <p:spPr>
          <a:xfrm>
            <a:off x="4009549" y="5276136"/>
            <a:ext cx="311944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93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0,46</a:t>
            </a:r>
            <a:endParaRPr lang="en-US" sz="930" dirty="0"/>
          </a:p>
        </p:txBody>
      </p:sp>
      <p:sp>
        <p:nvSpPr>
          <p:cNvPr id="28" name="Text 26"/>
          <p:cNvSpPr txBox="1"/>
          <p:nvPr/>
        </p:nvSpPr>
        <p:spPr>
          <a:xfrm>
            <a:off x="678180" y="5605463"/>
            <a:ext cx="3048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93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Котлы и насосы для ЖК</a:t>
            </a:r>
            <a:endParaRPr lang="en-US" sz="930" dirty="0"/>
          </a:p>
        </p:txBody>
      </p:sp>
      <p:sp>
        <p:nvSpPr>
          <p:cNvPr id="29" name="Text 27"/>
          <p:cNvSpPr txBox="1"/>
          <p:nvPr/>
        </p:nvSpPr>
        <p:spPr>
          <a:xfrm>
            <a:off x="4005858" y="5619155"/>
            <a:ext cx="318135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93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0,44</a:t>
            </a:r>
            <a:endParaRPr lang="en-US" sz="930" dirty="0"/>
          </a:p>
        </p:txBody>
      </p:sp>
      <p:sp>
        <p:nvSpPr>
          <p:cNvPr id="30" name="Text 28"/>
          <p:cNvSpPr txBox="1"/>
          <p:nvPr/>
        </p:nvSpPr>
        <p:spPr>
          <a:xfrm>
            <a:off x="678180" y="5948482"/>
            <a:ext cx="3048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93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Обработка от комаров, 2 берега</a:t>
            </a:r>
            <a:endParaRPr lang="en-US" sz="930" dirty="0"/>
          </a:p>
        </p:txBody>
      </p:sp>
      <p:sp>
        <p:nvSpPr>
          <p:cNvPr id="31" name="Text 29"/>
          <p:cNvSpPr txBox="1"/>
          <p:nvPr/>
        </p:nvSpPr>
        <p:spPr>
          <a:xfrm>
            <a:off x="3998476" y="5962174"/>
            <a:ext cx="236696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93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0,4</a:t>
            </a:r>
            <a:endParaRPr lang="en-US" sz="930" dirty="0"/>
          </a:p>
        </p:txBody>
      </p:sp>
      <p:sp>
        <p:nvSpPr>
          <p:cNvPr id="32" name="Text 30"/>
          <p:cNvSpPr txBox="1"/>
          <p:nvPr/>
        </p:nvSpPr>
        <p:spPr>
          <a:xfrm>
            <a:off x="7988975" y="2115026"/>
            <a:ext cx="347900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крупнейших направления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988975" y="2307431"/>
            <a:ext cx="34790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30"/>
              </a:lnSpc>
              <a:buNone/>
            </a:pPr>
            <a:r>
              <a:rPr lang="en-US" sz="3840" b="1" spc="-38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41,7</a:t>
            </a:r>
            <a:pPr algn="l" indent="0" marL="0">
              <a:lnSpc>
                <a:spcPts val="4030"/>
              </a:lnSpc>
              <a:buNone/>
            </a:pPr>
            <a:r>
              <a:rPr lang="en-US" sz="19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млрд тг</a:t>
            </a:r>
            <a:endParaRPr lang="en-US" sz="3840" dirty="0"/>
          </a:p>
        </p:txBody>
      </p:sp>
      <p:sp>
        <p:nvSpPr>
          <p:cNvPr id="34" name="Text 32"/>
          <p:cNvSpPr txBox="1"/>
          <p:nvPr/>
        </p:nvSpPr>
        <p:spPr>
          <a:xfrm>
            <a:off x="7988975" y="2918460"/>
            <a:ext cx="347900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уличное освещение, кабельные линии, благоустройство дворов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935635" y="4782622"/>
            <a:ext cx="36085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50" b="1" spc="75" kern="0" dirty="0">
                <a:solidFill>
                  <a:srgbClr val="C838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ПЕРВООЧЕРЕДНЫЕ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7935635" y="4966454"/>
            <a:ext cx="3642122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08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Котельные ЖК, аварийные опоры ЛЭП, правобережные КОС — безопасность жителей и бесперебойность услуг</a:t>
            </a:r>
            <a:endParaRPr lang="en-US" sz="108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6507480"/>
            <a:ext cx="102500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 ЖКХ и жилищной инспекции г. Атырау</a:t>
            </a:r>
            <a:endParaRPr lang="en-US" sz="780" dirty="0"/>
          </a:p>
        </p:txBody>
      </p:sp>
      <p:sp>
        <p:nvSpPr>
          <p:cNvPr id="38" name="Text 36"/>
          <p:cNvSpPr txBox="1"/>
          <p:nvPr/>
        </p:nvSpPr>
        <p:spPr>
          <a:xfrm>
            <a:off x="11408331" y="6507480"/>
            <a:ext cx="341709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22</a:t>
            </a:r>
            <a:endParaRPr lang="en-US" sz="8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3202781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b="1" spc="109" kern="0" dirty="0">
                <a:solidFill>
                  <a:srgbClr val="1C6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ИТОГИ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563880"/>
            <a:ext cx="3522821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0"/>
              </a:lnSpc>
              <a:buNone/>
            </a:pPr>
            <a:r>
              <a:rPr lang="en-US" sz="2280" b="1" spc="-23" kern="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Проблемные вопросы</a:t>
            </a:r>
            <a:endParaRPr lang="en-US" sz="2280" dirty="0"/>
          </a:p>
        </p:txBody>
      </p:sp>
      <p:sp>
        <p:nvSpPr>
          <p:cNvPr id="4" name="Text 2"/>
          <p:cNvSpPr txBox="1"/>
          <p:nvPr/>
        </p:nvSpPr>
        <p:spPr>
          <a:xfrm>
            <a:off x="7741920" y="547449"/>
            <a:ext cx="3962400" cy="35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99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Пункты 1–3 — критический приоритет: безопасность жителей и бесперебойность коммунальных услуг</a:t>
            </a:r>
            <a:endParaRPr lang="en-US" sz="990" dirty="0"/>
          </a:p>
        </p:txBody>
      </p:sp>
      <p:sp>
        <p:nvSpPr>
          <p:cNvPr id="5" name="Text 3"/>
          <p:cNvSpPr txBox="1"/>
          <p:nvPr/>
        </p:nvSpPr>
        <p:spPr>
          <a:xfrm>
            <a:off x="617220" y="1216819"/>
            <a:ext cx="160258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90" b="1" spc="62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№</a:t>
            </a:r>
            <a:endParaRPr lang="en-US" sz="690" dirty="0"/>
          </a:p>
        </p:txBody>
      </p:sp>
      <p:sp>
        <p:nvSpPr>
          <p:cNvPr id="6" name="Text 4"/>
          <p:cNvSpPr txBox="1"/>
          <p:nvPr/>
        </p:nvSpPr>
        <p:spPr>
          <a:xfrm>
            <a:off x="975598" y="1216819"/>
            <a:ext cx="2413873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90" b="1" spc="62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ПРОБЛЕМНЫЙ ВОПРОС</a:t>
            </a:r>
            <a:endParaRPr lang="en-US" sz="690" dirty="0"/>
          </a:p>
        </p:txBody>
      </p:sp>
      <p:sp>
        <p:nvSpPr>
          <p:cNvPr id="7" name="Text 5"/>
          <p:cNvSpPr txBox="1"/>
          <p:nvPr/>
        </p:nvSpPr>
        <p:spPr>
          <a:xfrm>
            <a:off x="3633311" y="1216819"/>
            <a:ext cx="3277076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90" b="1" spc="62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ТЕКУЩЕЕ СОСТОЯНИЕ</a:t>
            </a:r>
            <a:endParaRPr lang="en-US" sz="690" dirty="0"/>
          </a:p>
        </p:txBody>
      </p:sp>
      <p:sp>
        <p:nvSpPr>
          <p:cNvPr id="8" name="Text 6"/>
          <p:cNvSpPr txBox="1"/>
          <p:nvPr/>
        </p:nvSpPr>
        <p:spPr>
          <a:xfrm>
            <a:off x="7154228" y="1216819"/>
            <a:ext cx="1987391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90" b="1" spc="62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ПОСЛЕДСТВИЯ</a:t>
            </a:r>
            <a:endParaRPr lang="en-US" sz="690" dirty="0"/>
          </a:p>
        </p:txBody>
      </p:sp>
      <p:sp>
        <p:nvSpPr>
          <p:cNvPr id="9" name="Text 7"/>
          <p:cNvSpPr txBox="1"/>
          <p:nvPr/>
        </p:nvSpPr>
        <p:spPr>
          <a:xfrm>
            <a:off x="9385459" y="1216819"/>
            <a:ext cx="2189321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90" b="1" spc="62" kern="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НЕОБХОДИМО</a:t>
            </a:r>
            <a:endParaRPr lang="en-US" sz="690" dirty="0"/>
          </a:p>
        </p:txBody>
      </p:sp>
      <p:sp>
        <p:nvSpPr>
          <p:cNvPr id="10" name="Text 8"/>
          <p:cNvSpPr txBox="1"/>
          <p:nvPr/>
        </p:nvSpPr>
        <p:spPr>
          <a:xfrm>
            <a:off x="617220" y="1548408"/>
            <a:ext cx="11453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C838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20" dirty="0"/>
          </a:p>
        </p:txBody>
      </p:sp>
      <p:sp>
        <p:nvSpPr>
          <p:cNvPr id="11" name="Text 9"/>
          <p:cNvSpPr txBox="1"/>
          <p:nvPr/>
        </p:nvSpPr>
        <p:spPr>
          <a:xfrm>
            <a:off x="975598" y="1533168"/>
            <a:ext cx="2413873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0B254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Котельные ЖК «Самал Таун», «Family», «Абырой»</a:t>
            </a:r>
            <a:endParaRPr lang="en-US" sz="1020" dirty="0"/>
          </a:p>
        </p:txBody>
      </p:sp>
      <p:sp>
        <p:nvSpPr>
          <p:cNvPr id="12" name="Text 10"/>
          <p:cNvSpPr txBox="1"/>
          <p:nvPr/>
        </p:nvSpPr>
        <p:spPr>
          <a:xfrm>
            <a:off x="3633311" y="1533168"/>
            <a:ext cx="3318867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Изношены, не готовы к сезону; не приняты на баланс</a:t>
            </a:r>
            <a:endParaRPr lang="en-US" sz="1020" dirty="0"/>
          </a:p>
        </p:txBody>
      </p:sp>
      <p:sp>
        <p:nvSpPr>
          <p:cNvPr id="13" name="Text 11"/>
          <p:cNvSpPr txBox="1"/>
          <p:nvPr/>
        </p:nvSpPr>
        <p:spPr>
          <a:xfrm>
            <a:off x="7154228" y="1533168"/>
            <a:ext cx="1987391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Аварии в отопительный сезон</a:t>
            </a:r>
            <a:endParaRPr lang="en-US" sz="1020" dirty="0"/>
          </a:p>
        </p:txBody>
      </p:sp>
      <p:sp>
        <p:nvSpPr>
          <p:cNvPr id="14" name="Text 12"/>
          <p:cNvSpPr txBox="1"/>
          <p:nvPr/>
        </p:nvSpPr>
        <p:spPr>
          <a:xfrm>
            <a:off x="9385459" y="1533168"/>
            <a:ext cx="2189321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143C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Принять на баланс; котлы и насосы — 435 млн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617220" y="2103715"/>
            <a:ext cx="12215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C838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20" dirty="0"/>
          </a:p>
        </p:txBody>
      </p:sp>
      <p:sp>
        <p:nvSpPr>
          <p:cNvPr id="16" name="Text 14"/>
          <p:cNvSpPr txBox="1"/>
          <p:nvPr/>
        </p:nvSpPr>
        <p:spPr>
          <a:xfrm>
            <a:off x="975598" y="2088475"/>
            <a:ext cx="2413873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0B254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Аварийные опоры ЛЭП</a:t>
            </a:r>
            <a:endParaRPr lang="en-US" sz="1020" dirty="0"/>
          </a:p>
        </p:txBody>
      </p:sp>
      <p:sp>
        <p:nvSpPr>
          <p:cNvPr id="17" name="Text 15"/>
          <p:cNvSpPr txBox="1"/>
          <p:nvPr/>
        </p:nvSpPr>
        <p:spPr>
          <a:xfrm>
            <a:off x="3633311" y="2088475"/>
            <a:ext cx="3277076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Осталось заменить 2 414 опор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7154228" y="2088475"/>
            <a:ext cx="1987391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Угроза безопасности жителей</a:t>
            </a:r>
            <a:endParaRPr lang="en-US" sz="1020" dirty="0"/>
          </a:p>
        </p:txBody>
      </p:sp>
      <p:sp>
        <p:nvSpPr>
          <p:cNvPr id="19" name="Text 17"/>
          <p:cNvSpPr txBox="1"/>
          <p:nvPr/>
        </p:nvSpPr>
        <p:spPr>
          <a:xfrm>
            <a:off x="9385459" y="2088475"/>
            <a:ext cx="2189321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143C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554,4 млн на 2027 год</a:t>
            </a:r>
            <a:endParaRPr lang="en-US" sz="1020" dirty="0"/>
          </a:p>
        </p:txBody>
      </p:sp>
      <p:sp>
        <p:nvSpPr>
          <p:cNvPr id="20" name="Text 18"/>
          <p:cNvSpPr txBox="1"/>
          <p:nvPr/>
        </p:nvSpPr>
        <p:spPr>
          <a:xfrm>
            <a:off x="617220" y="2484239"/>
            <a:ext cx="12251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C838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975598" y="2468999"/>
            <a:ext cx="2413873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0B254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Правобережные КОС</a:t>
            </a:r>
            <a:endParaRPr lang="en-US" sz="1020" dirty="0"/>
          </a:p>
        </p:txBody>
      </p:sp>
      <p:sp>
        <p:nvSpPr>
          <p:cNvPr id="22" name="Text 20"/>
          <p:cNvSpPr txBox="1"/>
          <p:nvPr/>
        </p:nvSpPr>
        <p:spPr>
          <a:xfrm>
            <a:off x="3633311" y="2468999"/>
            <a:ext cx="3277076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СМР 85%; долг 944,0 млн; ПНР не профинансированы</a:t>
            </a:r>
            <a:endParaRPr lang="en-US" sz="1020" dirty="0"/>
          </a:p>
        </p:txBody>
      </p:sp>
      <p:sp>
        <p:nvSpPr>
          <p:cNvPr id="23" name="Text 21"/>
          <p:cNvSpPr txBox="1"/>
          <p:nvPr/>
        </p:nvSpPr>
        <p:spPr>
          <a:xfrm>
            <a:off x="7154228" y="2468999"/>
            <a:ext cx="1987391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Остановка работ, срыв ввода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9385459" y="2468999"/>
            <a:ext cx="2189321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143C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Остаток 4,5 млрд, погашение долга, ПНР</a:t>
            </a:r>
            <a:endParaRPr lang="en-US" sz="1020" dirty="0"/>
          </a:p>
        </p:txBody>
      </p:sp>
      <p:sp>
        <p:nvSpPr>
          <p:cNvPr id="25" name="Text 23"/>
          <p:cNvSpPr txBox="1"/>
          <p:nvPr/>
        </p:nvSpPr>
        <p:spPr>
          <a:xfrm>
            <a:off x="617220" y="3039547"/>
            <a:ext cx="13501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20" dirty="0"/>
          </a:p>
        </p:txBody>
      </p:sp>
      <p:sp>
        <p:nvSpPr>
          <p:cNvPr id="26" name="Text 24"/>
          <p:cNvSpPr txBox="1"/>
          <p:nvPr/>
        </p:nvSpPr>
        <p:spPr>
          <a:xfrm>
            <a:off x="975598" y="3024307"/>
            <a:ext cx="2413873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0B254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Кабельные сети 162 км</a:t>
            </a:r>
            <a:endParaRPr lang="en-US" sz="1020" dirty="0"/>
          </a:p>
        </p:txBody>
      </p:sp>
      <p:sp>
        <p:nvSpPr>
          <p:cNvPr id="27" name="Text 25"/>
          <p:cNvSpPr txBox="1"/>
          <p:nvPr/>
        </p:nvSpPr>
        <p:spPr>
          <a:xfrm>
            <a:off x="3633311" y="3024307"/>
            <a:ext cx="3277076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Высокий износ и аварийность</a:t>
            </a:r>
            <a:endParaRPr lang="en-US" sz="1020" dirty="0"/>
          </a:p>
        </p:txBody>
      </p:sp>
      <p:sp>
        <p:nvSpPr>
          <p:cNvPr id="28" name="Text 26"/>
          <p:cNvSpPr txBox="1"/>
          <p:nvPr/>
        </p:nvSpPr>
        <p:spPr>
          <a:xfrm>
            <a:off x="7154228" y="3024307"/>
            <a:ext cx="1987391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Отключения жилья и соцобъектов</a:t>
            </a:r>
            <a:endParaRPr lang="en-US" sz="1020" dirty="0"/>
          </a:p>
        </p:txBody>
      </p:sp>
      <p:sp>
        <p:nvSpPr>
          <p:cNvPr id="29" name="Text 27"/>
          <p:cNvSpPr txBox="1"/>
          <p:nvPr/>
        </p:nvSpPr>
        <p:spPr>
          <a:xfrm>
            <a:off x="9385459" y="3024307"/>
            <a:ext cx="2189321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143C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15,9 млрд после утверждения БИП</a:t>
            </a:r>
            <a:endParaRPr lang="en-US" sz="1020" dirty="0"/>
          </a:p>
        </p:txBody>
      </p:sp>
      <p:sp>
        <p:nvSpPr>
          <p:cNvPr id="30" name="Text 28"/>
          <p:cNvSpPr txBox="1"/>
          <p:nvPr/>
        </p:nvSpPr>
        <p:spPr>
          <a:xfrm>
            <a:off x="617220" y="3594854"/>
            <a:ext cx="12287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20" dirty="0"/>
          </a:p>
        </p:txBody>
      </p:sp>
      <p:sp>
        <p:nvSpPr>
          <p:cNvPr id="31" name="Text 29"/>
          <p:cNvSpPr txBox="1"/>
          <p:nvPr/>
        </p:nvSpPr>
        <p:spPr>
          <a:xfrm>
            <a:off x="975598" y="3579614"/>
            <a:ext cx="2413873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0B254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Безнадзорные собаки</a:t>
            </a:r>
            <a:endParaRPr lang="en-US" sz="1020" dirty="0"/>
          </a:p>
        </p:txBody>
      </p:sp>
      <p:sp>
        <p:nvSpPr>
          <p:cNvPr id="32" name="Text 30"/>
          <p:cNvSpPr txBox="1"/>
          <p:nvPr/>
        </p:nvSpPr>
        <p:spPr>
          <a:xfrm>
            <a:off x="3633311" y="3579614"/>
            <a:ext cx="3282553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2-й договор не оплачен; скотомогильник аварийный</a:t>
            </a:r>
            <a:endParaRPr lang="en-US" sz="1020" dirty="0"/>
          </a:p>
        </p:txBody>
      </p:sp>
      <p:sp>
        <p:nvSpPr>
          <p:cNvPr id="33" name="Text 31"/>
          <p:cNvSpPr txBox="1"/>
          <p:nvPr/>
        </p:nvSpPr>
        <p:spPr>
          <a:xfrm>
            <a:off x="7154228" y="3579614"/>
            <a:ext cx="1987391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Риск у школ и детсадов</a:t>
            </a:r>
            <a:endParaRPr lang="en-US" sz="1020" dirty="0"/>
          </a:p>
        </p:txBody>
      </p:sp>
      <p:sp>
        <p:nvSpPr>
          <p:cNvPr id="34" name="Text 32"/>
          <p:cNvSpPr txBox="1"/>
          <p:nvPr/>
        </p:nvSpPr>
        <p:spPr>
          <a:xfrm>
            <a:off x="9385459" y="3579614"/>
            <a:ext cx="2189321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143C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Финансирование, крематорий, ремонт</a:t>
            </a:r>
            <a:endParaRPr lang="en-US" sz="1020" dirty="0"/>
          </a:p>
        </p:txBody>
      </p:sp>
      <p:sp>
        <p:nvSpPr>
          <p:cNvPr id="35" name="Text 33"/>
          <p:cNvSpPr txBox="1"/>
          <p:nvPr/>
        </p:nvSpPr>
        <p:spPr>
          <a:xfrm>
            <a:off x="617220" y="4150162"/>
            <a:ext cx="12834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20" dirty="0"/>
          </a:p>
        </p:txBody>
      </p:sp>
      <p:sp>
        <p:nvSpPr>
          <p:cNvPr id="36" name="Text 34"/>
          <p:cNvSpPr txBox="1"/>
          <p:nvPr/>
        </p:nvSpPr>
        <p:spPr>
          <a:xfrm>
            <a:off x="975598" y="4134922"/>
            <a:ext cx="2413873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0B254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Водопровод, 1–3 этапы</a:t>
            </a:r>
            <a:endParaRPr lang="en-US" sz="1020" dirty="0"/>
          </a:p>
        </p:txBody>
      </p:sp>
      <p:sp>
        <p:nvSpPr>
          <p:cNvPr id="37" name="Text 35"/>
          <p:cNvSpPr txBox="1"/>
          <p:nvPr/>
        </p:nvSpPr>
        <p:spPr>
          <a:xfrm>
            <a:off x="3633311" y="4134922"/>
            <a:ext cx="3277076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хватает 3 097,4 млн</a:t>
            </a:r>
            <a:endParaRPr lang="en-US" sz="1020" dirty="0"/>
          </a:p>
        </p:txBody>
      </p:sp>
      <p:sp>
        <p:nvSpPr>
          <p:cNvPr id="38" name="Text 36"/>
          <p:cNvSpPr txBox="1"/>
          <p:nvPr/>
        </p:nvSpPr>
        <p:spPr>
          <a:xfrm>
            <a:off x="7154228" y="4134922"/>
            <a:ext cx="1987391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Срыв завершения в 2026</a:t>
            </a:r>
            <a:endParaRPr lang="en-US" sz="1020" dirty="0"/>
          </a:p>
        </p:txBody>
      </p:sp>
      <p:sp>
        <p:nvSpPr>
          <p:cNvPr id="39" name="Text 37"/>
          <p:cNvSpPr txBox="1"/>
          <p:nvPr/>
        </p:nvSpPr>
        <p:spPr>
          <a:xfrm>
            <a:off x="9385459" y="4134922"/>
            <a:ext cx="2189321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143C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3 097,4 млн в текущем году</a:t>
            </a:r>
            <a:endParaRPr lang="en-US" sz="1020" dirty="0"/>
          </a:p>
        </p:txBody>
      </p:sp>
      <p:sp>
        <p:nvSpPr>
          <p:cNvPr id="40" name="Text 38"/>
          <p:cNvSpPr txBox="1"/>
          <p:nvPr/>
        </p:nvSpPr>
        <p:spPr>
          <a:xfrm>
            <a:off x="617220" y="4530685"/>
            <a:ext cx="12608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20" dirty="0"/>
          </a:p>
        </p:txBody>
      </p:sp>
      <p:sp>
        <p:nvSpPr>
          <p:cNvPr id="41" name="Text 39"/>
          <p:cNvSpPr txBox="1"/>
          <p:nvPr/>
        </p:nvSpPr>
        <p:spPr>
          <a:xfrm>
            <a:off x="975598" y="4515445"/>
            <a:ext cx="2413873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0B254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Рост тарифа на электроэнергию</a:t>
            </a:r>
            <a:endParaRPr lang="en-US" sz="1020" dirty="0"/>
          </a:p>
        </p:txBody>
      </p:sp>
      <p:sp>
        <p:nvSpPr>
          <p:cNvPr id="42" name="Text 40"/>
          <p:cNvSpPr txBox="1"/>
          <p:nvPr/>
        </p:nvSpPr>
        <p:spPr>
          <a:xfrm>
            <a:off x="3633311" y="4515445"/>
            <a:ext cx="3277076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+60,7% с 01.10.2026</a:t>
            </a:r>
            <a:endParaRPr lang="en-US" sz="1020" dirty="0"/>
          </a:p>
        </p:txBody>
      </p:sp>
      <p:sp>
        <p:nvSpPr>
          <p:cNvPr id="43" name="Text 41"/>
          <p:cNvSpPr txBox="1"/>
          <p:nvPr/>
        </p:nvSpPr>
        <p:spPr>
          <a:xfrm>
            <a:off x="7154228" y="4515445"/>
            <a:ext cx="1987391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Нехватка средств на оплату</a:t>
            </a:r>
            <a:endParaRPr lang="en-US" sz="1020" dirty="0"/>
          </a:p>
        </p:txBody>
      </p:sp>
      <p:sp>
        <p:nvSpPr>
          <p:cNvPr id="44" name="Text 42"/>
          <p:cNvSpPr txBox="1"/>
          <p:nvPr/>
        </p:nvSpPr>
        <p:spPr>
          <a:xfrm>
            <a:off x="9385459" y="4515445"/>
            <a:ext cx="2189321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143C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509,6 млн (IV кв.); 2 038,4 млн в год</a:t>
            </a:r>
            <a:endParaRPr lang="en-US" sz="1020" dirty="0"/>
          </a:p>
        </p:txBody>
      </p:sp>
      <p:sp>
        <p:nvSpPr>
          <p:cNvPr id="45" name="Text 43"/>
          <p:cNvSpPr txBox="1"/>
          <p:nvPr/>
        </p:nvSpPr>
        <p:spPr>
          <a:xfrm>
            <a:off x="617220" y="5085993"/>
            <a:ext cx="13132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20" dirty="0"/>
          </a:p>
        </p:txBody>
      </p:sp>
      <p:sp>
        <p:nvSpPr>
          <p:cNvPr id="46" name="Text 44"/>
          <p:cNvSpPr txBox="1"/>
          <p:nvPr/>
        </p:nvSpPr>
        <p:spPr>
          <a:xfrm>
            <a:off x="975598" y="5070753"/>
            <a:ext cx="2413873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0B254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Жилищный фонд</a:t>
            </a:r>
            <a:endParaRPr lang="en-US" sz="1020" dirty="0"/>
          </a:p>
        </p:txBody>
      </p:sp>
      <p:sp>
        <p:nvSpPr>
          <p:cNvPr id="47" name="Text 45"/>
          <p:cNvSpPr txBox="1"/>
          <p:nvPr/>
        </p:nvSpPr>
        <p:spPr>
          <a:xfrm>
            <a:off x="3633311" y="5070753"/>
            <a:ext cx="3277076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379 МЖД старше 50 лет, из них 208 гипсоблочных; 345 домов без управления</a:t>
            </a:r>
            <a:endParaRPr lang="en-US" sz="1020" dirty="0"/>
          </a:p>
        </p:txBody>
      </p:sp>
      <p:sp>
        <p:nvSpPr>
          <p:cNvPr id="48" name="Text 46"/>
          <p:cNvSpPr txBox="1"/>
          <p:nvPr/>
        </p:nvSpPr>
        <p:spPr>
          <a:xfrm>
            <a:off x="7154228" y="5070753"/>
            <a:ext cx="1987391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Рост аварийности, невозможность ремонта</a:t>
            </a:r>
            <a:endParaRPr lang="en-US" sz="1020" dirty="0"/>
          </a:p>
        </p:txBody>
      </p:sp>
      <p:sp>
        <p:nvSpPr>
          <p:cNvPr id="49" name="Text 47"/>
          <p:cNvSpPr txBox="1"/>
          <p:nvPr/>
        </p:nvSpPr>
        <p:spPr>
          <a:xfrm>
            <a:off x="9385459" y="5070753"/>
            <a:ext cx="2189321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143C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Обследование, создание ОСИ</a:t>
            </a:r>
            <a:endParaRPr lang="en-US" sz="1020" dirty="0"/>
          </a:p>
        </p:txBody>
      </p:sp>
      <p:sp>
        <p:nvSpPr>
          <p:cNvPr id="50" name="Text 48"/>
          <p:cNvSpPr txBox="1"/>
          <p:nvPr/>
        </p:nvSpPr>
        <p:spPr>
          <a:xfrm>
            <a:off x="617220" y="5641300"/>
            <a:ext cx="12834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20" dirty="0"/>
          </a:p>
        </p:txBody>
      </p:sp>
      <p:sp>
        <p:nvSpPr>
          <p:cNvPr id="51" name="Text 49"/>
          <p:cNvSpPr txBox="1"/>
          <p:nvPr/>
        </p:nvSpPr>
        <p:spPr>
          <a:xfrm>
            <a:off x="975598" y="5626060"/>
            <a:ext cx="2413873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0B254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Термомодернизация 2020–2022</a:t>
            </a:r>
            <a:endParaRPr lang="en-US" sz="1020" dirty="0"/>
          </a:p>
        </p:txBody>
      </p:sp>
      <p:sp>
        <p:nvSpPr>
          <p:cNvPr id="52" name="Text 50"/>
          <p:cNvSpPr txBox="1"/>
          <p:nvPr/>
        </p:nvSpPr>
        <p:spPr>
          <a:xfrm>
            <a:off x="3633311" y="5626060"/>
            <a:ext cx="3277076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объектов не завершены (712,4 млн)</a:t>
            </a:r>
            <a:endParaRPr lang="en-US" sz="1020" dirty="0"/>
          </a:p>
        </p:txBody>
      </p:sp>
      <p:sp>
        <p:nvSpPr>
          <p:cNvPr id="53" name="Text 51"/>
          <p:cNvSpPr txBox="1"/>
          <p:nvPr/>
        </p:nvSpPr>
        <p:spPr>
          <a:xfrm>
            <a:off x="7154228" y="5626060"/>
            <a:ext cx="2020967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dirty="0">
                <a:solidFill>
                  <a:srgbClr val="14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Неэффективное использование средств</a:t>
            </a:r>
            <a:endParaRPr lang="en-US" sz="1020" dirty="0"/>
          </a:p>
        </p:txBody>
      </p:sp>
      <p:sp>
        <p:nvSpPr>
          <p:cNvPr id="54" name="Text 52"/>
          <p:cNvSpPr txBox="1"/>
          <p:nvPr/>
        </p:nvSpPr>
        <p:spPr>
          <a:xfrm>
            <a:off x="9385459" y="5626060"/>
            <a:ext cx="2189321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20" b="1" dirty="0">
                <a:solidFill>
                  <a:srgbClr val="143C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Завершить работы, проверить КСК/ПИК</a:t>
            </a:r>
            <a:endParaRPr lang="en-US" sz="1020" dirty="0"/>
          </a:p>
        </p:txBody>
      </p:sp>
      <p:sp>
        <p:nvSpPr>
          <p:cNvPr id="55" name="Text 53"/>
          <p:cNvSpPr txBox="1"/>
          <p:nvPr/>
        </p:nvSpPr>
        <p:spPr>
          <a:xfrm>
            <a:off x="1051560" y="6507480"/>
            <a:ext cx="1022901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5D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 ЖКХ и жилищной инспекции г. Атырау</a:t>
            </a:r>
            <a:endParaRPr lang="en-US" sz="780" dirty="0"/>
          </a:p>
        </p:txBody>
      </p:sp>
      <p:sp>
        <p:nvSpPr>
          <p:cNvPr id="56" name="Text 54"/>
          <p:cNvSpPr txBox="1"/>
          <p:nvPr/>
        </p:nvSpPr>
        <p:spPr>
          <a:xfrm>
            <a:off x="11387257" y="6507480"/>
            <a:ext cx="36278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D6B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22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Жилищно-коммунальное хозяйство города Атырау</dc:title>
  <dc:subject>PptxGenJS Presentation</dc:subject>
  <dc:creator>Отдел ЖКХ и жилищной инспекции г. Атырау</dc:creator>
  <cp:lastModifiedBy>Отдел ЖКХ и жилищной инспекции г. Атырау</cp:lastModifiedBy>
  <cp:revision>1</cp:revision>
  <dcterms:created xsi:type="dcterms:W3CDTF">2026-10-14T11:18:00Z</dcterms:created>
  <dcterms:modified xsi:type="dcterms:W3CDTF">2026-10-14T11:18:00Z</dcterms:modified>
</cp:coreProperties>
</file>